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2"/>
  </p:notesMasterIdLst>
  <p:sldIdLst>
    <p:sldId id="995" r:id="rId5"/>
    <p:sldId id="1055" r:id="rId6"/>
    <p:sldId id="993" r:id="rId7"/>
    <p:sldId id="998" r:id="rId8"/>
    <p:sldId id="1000" r:id="rId9"/>
    <p:sldId id="1001" r:id="rId10"/>
    <p:sldId id="1006" r:id="rId11"/>
    <p:sldId id="994" r:id="rId12"/>
    <p:sldId id="1061" r:id="rId13"/>
    <p:sldId id="1004" r:id="rId14"/>
    <p:sldId id="1032" r:id="rId15"/>
    <p:sldId id="1059" r:id="rId16"/>
    <p:sldId id="1060" r:id="rId17"/>
    <p:sldId id="1009" r:id="rId18"/>
    <p:sldId id="1034" r:id="rId19"/>
    <p:sldId id="1057" r:id="rId20"/>
    <p:sldId id="1056" r:id="rId21"/>
    <p:sldId id="1058" r:id="rId22"/>
    <p:sldId id="1012" r:id="rId23"/>
    <p:sldId id="1039" r:id="rId24"/>
    <p:sldId id="1035" r:id="rId25"/>
    <p:sldId id="1016" r:id="rId26"/>
    <p:sldId id="1036" r:id="rId27"/>
    <p:sldId id="1037" r:id="rId28"/>
    <p:sldId id="1018" r:id="rId29"/>
    <p:sldId id="1021" r:id="rId30"/>
    <p:sldId id="1038" r:id="rId31"/>
    <p:sldId id="1062" r:id="rId32"/>
    <p:sldId id="1029" r:id="rId33"/>
    <p:sldId id="1065" r:id="rId34"/>
    <p:sldId id="1068" r:id="rId35"/>
    <p:sldId id="1063" r:id="rId36"/>
    <p:sldId id="1069" r:id="rId37"/>
    <p:sldId id="1070" r:id="rId38"/>
    <p:sldId id="1071" r:id="rId39"/>
    <p:sldId id="1235" r:id="rId40"/>
    <p:sldId id="1219" r:id="rId41"/>
  </p:sldIdLst>
  <p:sldSz cx="14630400" cy="8229600"/>
  <p:notesSz cx="6858000" cy="9144000"/>
  <p:defaultTextStyle>
    <a:defPPr>
      <a:defRPr lang="en-US"/>
    </a:defPPr>
    <a:lvl1pPr marL="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lyan Reddy" initials="KR" lastIdx="1" clrIdx="0">
    <p:extLst>
      <p:ext uri="{19B8F6BF-5375-455C-9EA6-DF929625EA0E}">
        <p15:presenceInfo xmlns:p15="http://schemas.microsoft.com/office/powerpoint/2012/main" userId="c9a51c2cda3cd10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E4CF3D"/>
    <a:srgbClr val="224C8A"/>
    <a:srgbClr val="C0A523"/>
    <a:srgbClr val="246B1B"/>
    <a:srgbClr val="660033"/>
    <a:srgbClr val="660066"/>
    <a:srgbClr val="C7C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12" autoAdjust="0"/>
    <p:restoredTop sz="94507"/>
  </p:normalViewPr>
  <p:slideViewPr>
    <p:cSldViewPr snapToGrid="0" snapToObjects="1">
      <p:cViewPr varScale="1">
        <p:scale>
          <a:sx n="58" d="100"/>
          <a:sy n="58" d="100"/>
        </p:scale>
        <p:origin x="922" y="27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notesMaster" Target="notesMasters/notesMaster1.xml"/><Relationship Id="rId43" Type="http://schemas.openxmlformats.org/officeDocument/2006/relationships/commentAuthors" Target="commentAuthors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92B7C-7B94-48F3-AD53-1D938946795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8FE51-5DD6-4BF3-9495-81C4A5D2F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1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FE51-5DD6-4BF3-9495-81C4A5D2F8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40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FE51-5DD6-4BF3-9495-81C4A5D2F8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FE51-5DD6-4BF3-9495-81C4A5D2F8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41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FE51-5DD6-4BF3-9495-81C4A5D2F8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44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FE51-5DD6-4BF3-9495-81C4A5D2F89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581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3911273"/>
            <a:ext cx="14630400" cy="43183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BEE7A-7819-E04D-BB55-67CA138643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28799" y="4070555"/>
            <a:ext cx="8170607" cy="1926324"/>
          </a:xfrm>
        </p:spPr>
        <p:txBody>
          <a:bodyPr anchor="t">
            <a:normAutofit/>
          </a:bodyPr>
          <a:lstStyle>
            <a:lvl1pPr algn="l">
              <a:defRPr sz="5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Deck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7E49C-3EEA-A443-9547-90F2FEFC96E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28799" y="5996878"/>
            <a:ext cx="6683969" cy="1701779"/>
          </a:xfrm>
        </p:spPr>
        <p:txBody>
          <a:bodyPr anchor="t"/>
          <a:lstStyle>
            <a:lvl1pPr marL="0" indent="0" algn="l">
              <a:buNone/>
              <a:defRPr sz="290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200"/>
            </a:lvl3pPr>
            <a:lvl4pPr marL="1645920" indent="0" algn="ctr">
              <a:buNone/>
              <a:defRPr sz="1900"/>
            </a:lvl4pPr>
            <a:lvl5pPr marL="2194560" indent="0" algn="ctr">
              <a:buNone/>
              <a:defRPr sz="1900"/>
            </a:lvl5pPr>
            <a:lvl6pPr marL="2743200" indent="0" algn="ctr">
              <a:buNone/>
              <a:defRPr sz="1900"/>
            </a:lvl6pPr>
            <a:lvl7pPr marL="3291840" indent="0" algn="ctr">
              <a:buNone/>
              <a:defRPr sz="1900"/>
            </a:lvl7pPr>
            <a:lvl8pPr marL="3840480" indent="0" algn="ctr">
              <a:buNone/>
              <a:defRPr sz="1900"/>
            </a:lvl8pPr>
            <a:lvl9pPr marL="4389120" indent="0" algn="ctr">
              <a:buNone/>
              <a:defRPr sz="1900"/>
            </a:lvl9pPr>
          </a:lstStyle>
          <a:p>
            <a:r>
              <a:rPr lang="en-GB" dirty="0"/>
              <a:t>Author </a:t>
            </a:r>
          </a:p>
          <a:p>
            <a:r>
              <a:rPr lang="en-GB" dirty="0"/>
              <a:t>Date </a:t>
            </a:r>
          </a:p>
        </p:txBody>
      </p:sp>
    </p:spTree>
    <p:extLst>
      <p:ext uri="{BB962C8B-B14F-4D97-AF65-F5344CB8AC3E}">
        <p14:creationId xmlns:p14="http://schemas.microsoft.com/office/powerpoint/2010/main" val="156659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7741207"/>
            <a:ext cx="4937760" cy="438150"/>
          </a:xfrm>
        </p:spPr>
        <p:txBody>
          <a:bodyPr/>
          <a:lstStyle/>
          <a:p>
            <a:pPr algn="l"/>
            <a:r>
              <a:rPr lang="en-GB" dirty="0"/>
              <a:t>AWS VPC Master Class @Kalyan Reddy Daida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995CC4-5E34-0E41-A7F9-D8A93939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1"/>
            <a:ext cx="12618720" cy="120777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086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8A33-184A-8544-9FAA-FFAA66EA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F8684-740B-CF45-9F5C-1B7432DBD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189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19BB-4979-0B44-AF6B-85907812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36EAB-B254-C146-A7C6-0DE76935A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1835107"/>
            <a:ext cx="6217920" cy="55772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8D9AA-C4F2-F341-9AD2-DD78F9E32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1835106"/>
            <a:ext cx="6217920" cy="55772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11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DE078-3DB5-CD4E-B5FF-74FE6A229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C4095-462F-0E4F-B67A-AB0DB86AE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200" b="1"/>
            </a:lvl3pPr>
            <a:lvl4pPr marL="1645920" indent="0">
              <a:buNone/>
              <a:defRPr sz="1900" b="1"/>
            </a:lvl4pPr>
            <a:lvl5pPr marL="2194560" indent="0">
              <a:buNone/>
              <a:defRPr sz="1900" b="1"/>
            </a:lvl5pPr>
            <a:lvl6pPr marL="2743200" indent="0">
              <a:buNone/>
              <a:defRPr sz="1900" b="1"/>
            </a:lvl6pPr>
            <a:lvl7pPr marL="3291840" indent="0">
              <a:buNone/>
              <a:defRPr sz="1900" b="1"/>
            </a:lvl7pPr>
            <a:lvl8pPr marL="3840480" indent="0">
              <a:buNone/>
              <a:defRPr sz="1900" b="1"/>
            </a:lvl8pPr>
            <a:lvl9pPr marL="4389120" indent="0">
              <a:buNone/>
              <a:defRPr sz="1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89E46-5048-5442-9E93-17CCAA14B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68C68-60E1-8E48-B221-933C8C873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200" b="1"/>
            </a:lvl3pPr>
            <a:lvl4pPr marL="1645920" indent="0">
              <a:buNone/>
              <a:defRPr sz="1900" b="1"/>
            </a:lvl4pPr>
            <a:lvl5pPr marL="2194560" indent="0">
              <a:buNone/>
              <a:defRPr sz="1900" b="1"/>
            </a:lvl5pPr>
            <a:lvl6pPr marL="2743200" indent="0">
              <a:buNone/>
              <a:defRPr sz="1900" b="1"/>
            </a:lvl6pPr>
            <a:lvl7pPr marL="3291840" indent="0">
              <a:buNone/>
              <a:defRPr sz="1900" b="1"/>
            </a:lvl7pPr>
            <a:lvl8pPr marL="3840480" indent="0">
              <a:buNone/>
              <a:defRPr sz="1900" b="1"/>
            </a:lvl8pPr>
            <a:lvl9pPr marL="4389120" indent="0">
              <a:buNone/>
              <a:defRPr sz="1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8A2F8-2BBD-5C48-9615-20088671D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60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923F-80CF-1549-A2F3-FD799F8D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44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359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A188-0C7D-5B48-8F5A-A4914AFA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79F44-FC70-FA4C-ABA7-3BC66D2F5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00"/>
            </a:lvl1pPr>
            <a:lvl2pPr>
              <a:defRPr sz="34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335F7-E000-8E41-80E4-E0A5EE4F2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00"/>
            </a:lvl1pPr>
            <a:lvl2pPr marL="548640" indent="0">
              <a:buNone/>
              <a:defRPr sz="1700"/>
            </a:lvl2pPr>
            <a:lvl3pPr marL="1097280" indent="0">
              <a:buNone/>
              <a:defRPr sz="140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7874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27E9-05F0-FE4F-9A4C-7EBDC682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E113E1-980C-1E4F-BD57-EFD7C1325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00"/>
            </a:lvl1pPr>
            <a:lvl2pPr marL="548640" indent="0">
              <a:buNone/>
              <a:defRPr sz="3400"/>
            </a:lvl2pPr>
            <a:lvl3pPr marL="1097280" indent="0">
              <a:buNone/>
              <a:defRPr sz="290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3DE4B-B046-924F-B3CB-32E0383A5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00"/>
            </a:lvl1pPr>
            <a:lvl2pPr marL="548640" indent="0">
              <a:buNone/>
              <a:defRPr sz="1700"/>
            </a:lvl2pPr>
            <a:lvl3pPr marL="1097280" indent="0">
              <a:buNone/>
              <a:defRPr sz="140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52A71-4150-4C4A-9445-154BD939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lIns="109728" tIns="54864" rIns="109728" bIns="54864"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15324-A847-7E48-BDE6-12E305FC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AWS VPC Master Class @Kalyan Reddy Daida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D7A1F-D1EA-C646-9E58-6DC2830F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lIns="109728" tIns="54864" rIns="109728" bIns="54864"/>
          <a:lstStyle/>
          <a:p>
            <a:fld id="{18A65C51-7344-6544-8116-303C127F51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56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54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7741207"/>
            <a:ext cx="4937760" cy="438150"/>
          </a:xfrm>
        </p:spPr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821433"/>
            <a:ext cx="12618720" cy="559092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7D18E9C-71B9-6048-8B72-C5BBB56E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72807"/>
            <a:ext cx="12618720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sz="2400" dirty="0"/>
              <a:t>Sub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000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lyan-without-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7726175"/>
            <a:ext cx="4937760" cy="438150"/>
          </a:xfrm>
        </p:spPr>
        <p:txBody>
          <a:bodyPr/>
          <a:lstStyle/>
          <a:p>
            <a:pPr algn="l"/>
            <a:r>
              <a:rPr lang="en-US" dirty="0"/>
              <a:t>Kalyan Reddy Daida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112311"/>
            <a:ext cx="12618720" cy="63000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4608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CC461-EC5E-944F-B708-4B7701E89627}"/>
              </a:ext>
            </a:extLst>
          </p:cNvPr>
          <p:cNvSpPr/>
          <p:nvPr/>
        </p:nvSpPr>
        <p:spPr>
          <a:xfrm>
            <a:off x="-15031" y="7665929"/>
            <a:ext cx="14645431" cy="56367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D18E9C-71B9-6048-8B72-C5BBB56E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1"/>
            <a:ext cx="12618720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sz="2400" dirty="0"/>
              <a:t>Sub heading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5E41C-C682-7742-8D56-362E23AF9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1821433"/>
            <a:ext cx="12618720" cy="5590922"/>
          </a:xfrm>
          <a:prstGeom prst="rect">
            <a:avLst/>
          </a:prstGeom>
        </p:spPr>
        <p:txBody>
          <a:bodyPr vert="horz" lIns="109728" tIns="54864" rIns="109728" bIns="54864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0" y="7756238"/>
            <a:ext cx="4937760" cy="438150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lvl1pPr algn="ctr">
              <a:defRPr sz="1700" b="1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6" name="Footer Placeholder 7"/>
          <p:cNvSpPr txBox="1">
            <a:spLocks/>
          </p:cNvSpPr>
          <p:nvPr/>
        </p:nvSpPr>
        <p:spPr>
          <a:xfrm>
            <a:off x="12852044" y="7714109"/>
            <a:ext cx="1735609" cy="437415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dirty="0"/>
              <a:t>StackSimplify</a:t>
            </a: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42219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7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7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7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3" y="2899123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아키텍처</a:t>
            </a:r>
          </a:p>
        </p:txBody>
      </p:sp>
    </p:spTree>
    <p:extLst>
      <p:ext uri="{BB962C8B-B14F-4D97-AF65-F5344CB8AC3E}">
        <p14:creationId xmlns:p14="http://schemas.microsoft.com/office/powerpoint/2010/main" val="1463512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819D0E-61B2-4717-949A-53CE5D3582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840114-9439-4B2E-A512-1F12425E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07" y="-145598"/>
            <a:ext cx="12618720" cy="1188851"/>
          </a:xfrm>
        </p:spPr>
        <p:txBody>
          <a:bodyPr/>
          <a:lstStyle/>
          <a:p>
            <a:r>
              <a:t>쿠버네티스 - 아키텍처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EBDD3-C074-4FD1-90DE-DBEA7232FDD0}"/>
              </a:ext>
            </a:extLst>
          </p:cNvPr>
          <p:cNvSpPr/>
          <p:nvPr/>
        </p:nvSpPr>
        <p:spPr>
          <a:xfrm>
            <a:off x="1292772" y="1127819"/>
            <a:ext cx="4761187" cy="5747543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4B9D87-4A32-4603-9B2B-8992F516F95E}"/>
              </a:ext>
            </a:extLst>
          </p:cNvPr>
          <p:cNvSpPr/>
          <p:nvPr/>
        </p:nvSpPr>
        <p:spPr>
          <a:xfrm>
            <a:off x="1608880" y="1844776"/>
            <a:ext cx="1469985" cy="104172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kube 컨트롤러 매니저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D2489E-5A2A-4FBF-9F64-78611E804517}"/>
              </a:ext>
            </a:extLst>
          </p:cNvPr>
          <p:cNvSpPr/>
          <p:nvPr/>
        </p:nvSpPr>
        <p:spPr>
          <a:xfrm>
            <a:off x="4309174" y="1848648"/>
            <a:ext cx="1469985" cy="104172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클라우드 컨트롤러 매니저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113BCF-03A4-4A84-9818-3EBEDCF464AC}"/>
              </a:ext>
            </a:extLst>
          </p:cNvPr>
          <p:cNvSpPr/>
          <p:nvPr/>
        </p:nvSpPr>
        <p:spPr>
          <a:xfrm>
            <a:off x="1608880" y="3499098"/>
            <a:ext cx="4170279" cy="5847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kube-apiserver</a:t>
            </a:r>
            <a:endParaRPr lang="en-IN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226CD4-907D-4280-AA42-EB153B5FFC39}"/>
              </a:ext>
            </a:extLst>
          </p:cNvPr>
          <p:cNvSpPr/>
          <p:nvPr/>
        </p:nvSpPr>
        <p:spPr>
          <a:xfrm>
            <a:off x="4323857" y="4787498"/>
            <a:ext cx="1469985" cy="10417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kube</a:t>
            </a:r>
            <a:r>
              <a:rPr lang="en-IN" sz="1800" dirty="0"/>
              <a:t>-scheduler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9629FC-2B11-45FC-A29A-4200DD758267}"/>
              </a:ext>
            </a:extLst>
          </p:cNvPr>
          <p:cNvSpPr/>
          <p:nvPr/>
        </p:nvSpPr>
        <p:spPr>
          <a:xfrm>
            <a:off x="1623562" y="4787498"/>
            <a:ext cx="1469985" cy="104172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etcd</a:t>
            </a:r>
            <a:endParaRPr lang="en-IN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4D42D6-E191-4E9A-8951-F30AFFC6FC23}"/>
              </a:ext>
            </a:extLst>
          </p:cNvPr>
          <p:cNvSpPr/>
          <p:nvPr/>
        </p:nvSpPr>
        <p:spPr>
          <a:xfrm>
            <a:off x="1509745" y="6211253"/>
            <a:ext cx="4420595" cy="3935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컨테이너 런타임(Docker)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DEE5A2-B43E-4F4B-8DB4-AEE0FC54A5F6}"/>
              </a:ext>
            </a:extLst>
          </p:cNvPr>
          <p:cNvSpPr txBox="1"/>
          <p:nvPr/>
        </p:nvSpPr>
        <p:spPr>
          <a:xfrm>
            <a:off x="3078865" y="1127819"/>
            <a:ext cx="1461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마스터 노드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AB2922-7805-4003-BD84-B8C75FB74314}"/>
              </a:ext>
            </a:extLst>
          </p:cNvPr>
          <p:cNvSpPr/>
          <p:nvPr/>
        </p:nvSpPr>
        <p:spPr>
          <a:xfrm>
            <a:off x="8049053" y="1127819"/>
            <a:ext cx="4761187" cy="2495057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44D098-07ED-44AE-B0C2-0A863A4390F2}"/>
              </a:ext>
            </a:extLst>
          </p:cNvPr>
          <p:cNvSpPr/>
          <p:nvPr/>
        </p:nvSpPr>
        <p:spPr>
          <a:xfrm>
            <a:off x="10954970" y="1968179"/>
            <a:ext cx="1469985" cy="5847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kube-proxy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852BC5-37B6-431D-9A9E-27E185ECF20E}"/>
              </a:ext>
            </a:extLst>
          </p:cNvPr>
          <p:cNvSpPr txBox="1"/>
          <p:nvPr/>
        </p:nvSpPr>
        <p:spPr>
          <a:xfrm>
            <a:off x="9271021" y="1113380"/>
            <a:ext cx="2404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62D69E-22E7-423F-B81E-31C29DDEE0C5}"/>
              </a:ext>
            </a:extLst>
          </p:cNvPr>
          <p:cNvSpPr/>
          <p:nvPr/>
        </p:nvSpPr>
        <p:spPr>
          <a:xfrm>
            <a:off x="4172974" y="1736188"/>
            <a:ext cx="1713620" cy="1273215"/>
          </a:xfrm>
          <a:prstGeom prst="rect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1F58E3-8C1B-4825-9CB8-E5172ABC2DD2}"/>
              </a:ext>
            </a:extLst>
          </p:cNvPr>
          <p:cNvSpPr/>
          <p:nvPr/>
        </p:nvSpPr>
        <p:spPr>
          <a:xfrm>
            <a:off x="10819037" y="1850856"/>
            <a:ext cx="1713620" cy="822259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337A49-E5C7-4D80-AA42-016F6EB3A01F}"/>
              </a:ext>
            </a:extLst>
          </p:cNvPr>
          <p:cNvSpPr/>
          <p:nvPr/>
        </p:nvSpPr>
        <p:spPr>
          <a:xfrm>
            <a:off x="8494782" y="1969017"/>
            <a:ext cx="1469985" cy="5847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kubelet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223014-BA46-460A-AAFC-90DAD8767A04}"/>
              </a:ext>
            </a:extLst>
          </p:cNvPr>
          <p:cNvSpPr/>
          <p:nvPr/>
        </p:nvSpPr>
        <p:spPr>
          <a:xfrm>
            <a:off x="8370424" y="1851694"/>
            <a:ext cx="1713620" cy="822259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B7ABAC-3B9D-4C8B-8D8F-BAD420920277}"/>
              </a:ext>
            </a:extLst>
          </p:cNvPr>
          <p:cNvSpPr/>
          <p:nvPr/>
        </p:nvSpPr>
        <p:spPr>
          <a:xfrm>
            <a:off x="1495063" y="1726557"/>
            <a:ext cx="1713620" cy="1273215"/>
          </a:xfrm>
          <a:prstGeom prst="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90C2FE-1053-4A1B-A56F-DF605F5B1E33}"/>
              </a:ext>
            </a:extLst>
          </p:cNvPr>
          <p:cNvSpPr/>
          <p:nvPr/>
        </p:nvSpPr>
        <p:spPr>
          <a:xfrm>
            <a:off x="1506919" y="3347936"/>
            <a:ext cx="4368099" cy="894949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D6185F-F358-4C5D-B77D-3D8A625E0F76}"/>
              </a:ext>
            </a:extLst>
          </p:cNvPr>
          <p:cNvSpPr/>
          <p:nvPr/>
        </p:nvSpPr>
        <p:spPr>
          <a:xfrm>
            <a:off x="1509745" y="4667454"/>
            <a:ext cx="1713620" cy="1273215"/>
          </a:xfrm>
          <a:prstGeom prst="rect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D733293-C1C6-4E0B-AB61-6DE8894C4EC8}"/>
              </a:ext>
            </a:extLst>
          </p:cNvPr>
          <p:cNvSpPr/>
          <p:nvPr/>
        </p:nvSpPr>
        <p:spPr>
          <a:xfrm>
            <a:off x="4202038" y="4667454"/>
            <a:ext cx="1713620" cy="1273215"/>
          </a:xfrm>
          <a:prstGeom prst="rect">
            <a:avLst/>
          </a:prstGeom>
          <a:noFill/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E278D8-E4CB-4844-AC10-11E79EEF56E0}"/>
              </a:ext>
            </a:extLst>
          </p:cNvPr>
          <p:cNvSpPr/>
          <p:nvPr/>
        </p:nvSpPr>
        <p:spPr>
          <a:xfrm>
            <a:off x="8370424" y="2999772"/>
            <a:ext cx="4269519" cy="3935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컨테이너 런타임(Docker)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8BDC50-97D8-41E5-8382-8BBE14E509D2}"/>
              </a:ext>
            </a:extLst>
          </p:cNvPr>
          <p:cNvSpPr/>
          <p:nvPr/>
        </p:nvSpPr>
        <p:spPr>
          <a:xfrm>
            <a:off x="8049053" y="4385712"/>
            <a:ext cx="4761187" cy="2495057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C6F7CDD-19FA-4999-971F-E2A7E577CBED}"/>
              </a:ext>
            </a:extLst>
          </p:cNvPr>
          <p:cNvSpPr/>
          <p:nvPr/>
        </p:nvSpPr>
        <p:spPr>
          <a:xfrm>
            <a:off x="10954970" y="5226072"/>
            <a:ext cx="1469985" cy="5847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kube-proxy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6D3FD6-102A-48D8-96B7-4CF144259039}"/>
              </a:ext>
            </a:extLst>
          </p:cNvPr>
          <p:cNvSpPr txBox="1"/>
          <p:nvPr/>
        </p:nvSpPr>
        <p:spPr>
          <a:xfrm>
            <a:off x="9271021" y="4371273"/>
            <a:ext cx="2404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A50557-5B53-4AC6-B37C-4C01EAAFBE4E}"/>
              </a:ext>
            </a:extLst>
          </p:cNvPr>
          <p:cNvSpPr/>
          <p:nvPr/>
        </p:nvSpPr>
        <p:spPr>
          <a:xfrm>
            <a:off x="10819037" y="5108749"/>
            <a:ext cx="1713620" cy="822259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5924C24-B220-460C-8A9F-AAAD1B821F2C}"/>
              </a:ext>
            </a:extLst>
          </p:cNvPr>
          <p:cNvSpPr/>
          <p:nvPr/>
        </p:nvSpPr>
        <p:spPr>
          <a:xfrm>
            <a:off x="8494782" y="5226910"/>
            <a:ext cx="1469985" cy="5847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kubelet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162447A-7071-44FD-8136-15B40F6F3145}"/>
              </a:ext>
            </a:extLst>
          </p:cNvPr>
          <p:cNvSpPr/>
          <p:nvPr/>
        </p:nvSpPr>
        <p:spPr>
          <a:xfrm>
            <a:off x="8370424" y="5109587"/>
            <a:ext cx="1713620" cy="822259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B1FD2DD-9477-4261-8AFA-DF6D9F377044}"/>
              </a:ext>
            </a:extLst>
          </p:cNvPr>
          <p:cNvSpPr/>
          <p:nvPr/>
        </p:nvSpPr>
        <p:spPr>
          <a:xfrm>
            <a:off x="8370424" y="6257665"/>
            <a:ext cx="4269519" cy="3935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컨테이너 런타임(Docker)</a:t>
            </a:r>
          </a:p>
        </p:txBody>
      </p:sp>
    </p:spTree>
    <p:extLst>
      <p:ext uri="{BB962C8B-B14F-4D97-AF65-F5344CB8AC3E}">
        <p14:creationId xmlns:p14="http://schemas.microsoft.com/office/powerpoint/2010/main" val="9435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819D0E-61B2-4717-949A-53CE5D3582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840114-9439-4B2E-A512-1F12425E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07" y="-145598"/>
            <a:ext cx="12618720" cy="1188851"/>
          </a:xfrm>
        </p:spPr>
        <p:txBody>
          <a:bodyPr/>
          <a:lstStyle/>
          <a:p>
            <a:r>
              <a:t>쿠버네티스 아키텍처 - 마스터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EBDD3-C074-4FD1-90DE-DBEA7232FDD0}"/>
              </a:ext>
            </a:extLst>
          </p:cNvPr>
          <p:cNvSpPr/>
          <p:nvPr/>
        </p:nvSpPr>
        <p:spPr>
          <a:xfrm>
            <a:off x="297349" y="1369113"/>
            <a:ext cx="4761187" cy="5747543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4B9D87-4A32-4603-9B2B-8992F516F95E}"/>
              </a:ext>
            </a:extLst>
          </p:cNvPr>
          <p:cNvSpPr/>
          <p:nvPr/>
        </p:nvSpPr>
        <p:spPr>
          <a:xfrm>
            <a:off x="613457" y="2086070"/>
            <a:ext cx="1469985" cy="104172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kube 컨트롤러 매니저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D2489E-5A2A-4FBF-9F64-78611E804517}"/>
              </a:ext>
            </a:extLst>
          </p:cNvPr>
          <p:cNvSpPr/>
          <p:nvPr/>
        </p:nvSpPr>
        <p:spPr>
          <a:xfrm>
            <a:off x="3313751" y="2089942"/>
            <a:ext cx="1469985" cy="104172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클라우드 컨트롤러 매니저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113BCF-03A4-4A84-9818-3EBEDCF464AC}"/>
              </a:ext>
            </a:extLst>
          </p:cNvPr>
          <p:cNvSpPr/>
          <p:nvPr/>
        </p:nvSpPr>
        <p:spPr>
          <a:xfrm>
            <a:off x="613457" y="3740392"/>
            <a:ext cx="4170279" cy="5847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kube-apiserver</a:t>
            </a:r>
            <a:endParaRPr lang="en-IN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226CD4-907D-4280-AA42-EB153B5FFC39}"/>
              </a:ext>
            </a:extLst>
          </p:cNvPr>
          <p:cNvSpPr/>
          <p:nvPr/>
        </p:nvSpPr>
        <p:spPr>
          <a:xfrm>
            <a:off x="3328434" y="5028792"/>
            <a:ext cx="1469985" cy="10417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kube</a:t>
            </a:r>
            <a:r>
              <a:rPr lang="en-IN" sz="1800" dirty="0"/>
              <a:t>-scheduler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9629FC-2B11-45FC-A29A-4200DD758267}"/>
              </a:ext>
            </a:extLst>
          </p:cNvPr>
          <p:cNvSpPr/>
          <p:nvPr/>
        </p:nvSpPr>
        <p:spPr>
          <a:xfrm>
            <a:off x="628139" y="5028792"/>
            <a:ext cx="1469985" cy="104172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etcd</a:t>
            </a:r>
            <a:endParaRPr lang="en-IN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4D42D6-E191-4E9A-8951-F30AFFC6FC23}"/>
              </a:ext>
            </a:extLst>
          </p:cNvPr>
          <p:cNvSpPr/>
          <p:nvPr/>
        </p:nvSpPr>
        <p:spPr>
          <a:xfrm>
            <a:off x="514322" y="6452547"/>
            <a:ext cx="4420595" cy="3935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컨테이너 런타임(Docker)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DEE5A2-B43E-4F4B-8DB4-AEE0FC54A5F6}"/>
              </a:ext>
            </a:extLst>
          </p:cNvPr>
          <p:cNvSpPr txBox="1"/>
          <p:nvPr/>
        </p:nvSpPr>
        <p:spPr>
          <a:xfrm>
            <a:off x="2083442" y="1369113"/>
            <a:ext cx="1461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마스터 노드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62D69E-22E7-423F-B81E-31C29DDEE0C5}"/>
              </a:ext>
            </a:extLst>
          </p:cNvPr>
          <p:cNvSpPr/>
          <p:nvPr/>
        </p:nvSpPr>
        <p:spPr>
          <a:xfrm>
            <a:off x="3177551" y="1977482"/>
            <a:ext cx="1713620" cy="1273215"/>
          </a:xfrm>
          <a:prstGeom prst="rect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B7ABAC-3B9D-4C8B-8D8F-BAD420920277}"/>
              </a:ext>
            </a:extLst>
          </p:cNvPr>
          <p:cNvSpPr/>
          <p:nvPr/>
        </p:nvSpPr>
        <p:spPr>
          <a:xfrm>
            <a:off x="499640" y="1967851"/>
            <a:ext cx="1713620" cy="1273215"/>
          </a:xfrm>
          <a:prstGeom prst="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90C2FE-1053-4A1B-A56F-DF605F5B1E33}"/>
              </a:ext>
            </a:extLst>
          </p:cNvPr>
          <p:cNvSpPr/>
          <p:nvPr/>
        </p:nvSpPr>
        <p:spPr>
          <a:xfrm>
            <a:off x="511496" y="3589230"/>
            <a:ext cx="4368099" cy="894949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D6185F-F358-4C5D-B77D-3D8A625E0F76}"/>
              </a:ext>
            </a:extLst>
          </p:cNvPr>
          <p:cNvSpPr/>
          <p:nvPr/>
        </p:nvSpPr>
        <p:spPr>
          <a:xfrm>
            <a:off x="514322" y="4908748"/>
            <a:ext cx="1713620" cy="1273215"/>
          </a:xfrm>
          <a:prstGeom prst="rect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D733293-C1C6-4E0B-AB61-6DE8894C4EC8}"/>
              </a:ext>
            </a:extLst>
          </p:cNvPr>
          <p:cNvSpPr/>
          <p:nvPr/>
        </p:nvSpPr>
        <p:spPr>
          <a:xfrm>
            <a:off x="3206615" y="4908748"/>
            <a:ext cx="1713620" cy="1273215"/>
          </a:xfrm>
          <a:prstGeom prst="rect">
            <a:avLst/>
          </a:prstGeom>
          <a:noFill/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9B34FA18-BECA-4707-891C-9C1672B52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952" y="1369113"/>
            <a:ext cx="8207608" cy="6043242"/>
          </a:xfrm>
        </p:spPr>
        <p:txBody>
          <a:bodyPr>
            <a:normAutofit fontScale="85000" lnSpcReduction="20000"/>
          </a:bodyPr>
          <a:lstStyle/>
          <a:p>
            <a:r>
              <a:t>kube-apiserver</a:t>
            </a:r>
          </a:p>
          <a:p>
            <a:r>
              <a:t>쿠버네티스 컨트롤 플레인의 프런트엔드 역할을 하며 Kubernetes API를 노출합니다.</a:t>
            </a:r>
          </a:p>
          <a:p>
            <a:r>
              <a:t>kubectl 같은 커맨드라인 도구, 사용자, 그리고 마스터 구성요소(스케줄러, 컨트롤러 매니저, etcd) 및</a:t>
            </a:r>
          </a:p>
          <a:p>
            <a:r>
              <a:t>워커 노드 구성요소(kubelet)까지 모두 API 서버와 통신합니다.</a:t>
            </a:r>
          </a:p>
          <a:p>
            <a:r>
              <a:t>etcd</a:t>
            </a:r>
          </a:p>
          <a:p>
            <a:r>
              <a:t>쿠버네티스의 모든 클러스터 데이터를 저장하는, 일관성 있고 고가용(HA)한 키-값 저장소입니다.</a:t>
            </a:r>
          </a:p>
          <a:p>
            <a:r>
              <a:t>마스터와 워커 노드의 모든 정보를 저장합니다.</a:t>
            </a:r>
          </a:p>
          <a:p>
            <a:r>
              <a:t>kube-scheduler</a:t>
            </a:r>
          </a:p>
          <a:p>
            <a:r>
              <a:t>여러 노드에 컨테이너(파드)를 분산 배치하는 역할을 합니다.</a:t>
            </a:r>
          </a:p>
          <a:p>
            <a:r>
              <a:t>노드가 할당되지 않은 새로 생성된 파드를 감시하고, 실행할 노드를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3481746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819D0E-61B2-4717-949A-53CE5D3582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840114-9439-4B2E-A512-1F12425E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07" y="-145598"/>
            <a:ext cx="12618720" cy="1188851"/>
          </a:xfrm>
        </p:spPr>
        <p:txBody>
          <a:bodyPr/>
          <a:lstStyle/>
          <a:p>
            <a:r>
              <a:t>쿠버네티스 아키텍처 - 마스터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EBDD3-C074-4FD1-90DE-DBEA7232FDD0}"/>
              </a:ext>
            </a:extLst>
          </p:cNvPr>
          <p:cNvSpPr/>
          <p:nvPr/>
        </p:nvSpPr>
        <p:spPr>
          <a:xfrm>
            <a:off x="297349" y="1369113"/>
            <a:ext cx="4761187" cy="5747543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4B9D87-4A32-4603-9B2B-8992F516F95E}"/>
              </a:ext>
            </a:extLst>
          </p:cNvPr>
          <p:cNvSpPr/>
          <p:nvPr/>
        </p:nvSpPr>
        <p:spPr>
          <a:xfrm>
            <a:off x="613457" y="2086070"/>
            <a:ext cx="1469985" cy="104172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kube 컨트롤러 매니저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D2489E-5A2A-4FBF-9F64-78611E804517}"/>
              </a:ext>
            </a:extLst>
          </p:cNvPr>
          <p:cNvSpPr/>
          <p:nvPr/>
        </p:nvSpPr>
        <p:spPr>
          <a:xfrm>
            <a:off x="3313751" y="2089942"/>
            <a:ext cx="1469985" cy="104172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클라우드 컨트롤러 매니저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113BCF-03A4-4A84-9818-3EBEDCF464AC}"/>
              </a:ext>
            </a:extLst>
          </p:cNvPr>
          <p:cNvSpPr/>
          <p:nvPr/>
        </p:nvSpPr>
        <p:spPr>
          <a:xfrm>
            <a:off x="613457" y="3740392"/>
            <a:ext cx="4170279" cy="5847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kube-apiserver</a:t>
            </a:r>
            <a:endParaRPr lang="en-IN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226CD4-907D-4280-AA42-EB153B5FFC39}"/>
              </a:ext>
            </a:extLst>
          </p:cNvPr>
          <p:cNvSpPr/>
          <p:nvPr/>
        </p:nvSpPr>
        <p:spPr>
          <a:xfrm>
            <a:off x="3328434" y="5028792"/>
            <a:ext cx="1469985" cy="10417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kube</a:t>
            </a:r>
            <a:r>
              <a:rPr lang="en-IN" sz="1800" dirty="0"/>
              <a:t>-scheduler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9629FC-2B11-45FC-A29A-4200DD758267}"/>
              </a:ext>
            </a:extLst>
          </p:cNvPr>
          <p:cNvSpPr/>
          <p:nvPr/>
        </p:nvSpPr>
        <p:spPr>
          <a:xfrm>
            <a:off x="628139" y="5028792"/>
            <a:ext cx="1469985" cy="104172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etcd</a:t>
            </a:r>
            <a:endParaRPr lang="en-IN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4D42D6-E191-4E9A-8951-F30AFFC6FC23}"/>
              </a:ext>
            </a:extLst>
          </p:cNvPr>
          <p:cNvSpPr/>
          <p:nvPr/>
        </p:nvSpPr>
        <p:spPr>
          <a:xfrm>
            <a:off x="514322" y="6452547"/>
            <a:ext cx="4420595" cy="3935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컨테이너 런타임(Docker)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DEE5A2-B43E-4F4B-8DB4-AEE0FC54A5F6}"/>
              </a:ext>
            </a:extLst>
          </p:cNvPr>
          <p:cNvSpPr txBox="1"/>
          <p:nvPr/>
        </p:nvSpPr>
        <p:spPr>
          <a:xfrm>
            <a:off x="2083442" y="1369113"/>
            <a:ext cx="1461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마스터 노드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62D69E-22E7-423F-B81E-31C29DDEE0C5}"/>
              </a:ext>
            </a:extLst>
          </p:cNvPr>
          <p:cNvSpPr/>
          <p:nvPr/>
        </p:nvSpPr>
        <p:spPr>
          <a:xfrm>
            <a:off x="3177551" y="1977482"/>
            <a:ext cx="1713620" cy="1273215"/>
          </a:xfrm>
          <a:prstGeom prst="rect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B7ABAC-3B9D-4C8B-8D8F-BAD420920277}"/>
              </a:ext>
            </a:extLst>
          </p:cNvPr>
          <p:cNvSpPr/>
          <p:nvPr/>
        </p:nvSpPr>
        <p:spPr>
          <a:xfrm>
            <a:off x="499640" y="1967851"/>
            <a:ext cx="1713620" cy="1273215"/>
          </a:xfrm>
          <a:prstGeom prst="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90C2FE-1053-4A1B-A56F-DF605F5B1E33}"/>
              </a:ext>
            </a:extLst>
          </p:cNvPr>
          <p:cNvSpPr/>
          <p:nvPr/>
        </p:nvSpPr>
        <p:spPr>
          <a:xfrm>
            <a:off x="511496" y="3589230"/>
            <a:ext cx="4368099" cy="894949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D6185F-F358-4C5D-B77D-3D8A625E0F76}"/>
              </a:ext>
            </a:extLst>
          </p:cNvPr>
          <p:cNvSpPr/>
          <p:nvPr/>
        </p:nvSpPr>
        <p:spPr>
          <a:xfrm>
            <a:off x="514322" y="4908748"/>
            <a:ext cx="1713620" cy="1273215"/>
          </a:xfrm>
          <a:prstGeom prst="rect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D733293-C1C6-4E0B-AB61-6DE8894C4EC8}"/>
              </a:ext>
            </a:extLst>
          </p:cNvPr>
          <p:cNvSpPr/>
          <p:nvPr/>
        </p:nvSpPr>
        <p:spPr>
          <a:xfrm>
            <a:off x="3206615" y="4908748"/>
            <a:ext cx="1713620" cy="1273215"/>
          </a:xfrm>
          <a:prstGeom prst="rect">
            <a:avLst/>
          </a:prstGeom>
          <a:noFill/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9B34FA18-BECA-4707-891C-9C1672B52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952" y="1369113"/>
            <a:ext cx="8207608" cy="6043242"/>
          </a:xfrm>
        </p:spPr>
        <p:txBody>
          <a:bodyPr>
            <a:normAutofit fontScale="92500" lnSpcReduction="10000"/>
          </a:bodyPr>
          <a:lstStyle/>
          <a:p>
            <a:r>
              <a:t>kube-controller-manager</a:t>
            </a:r>
          </a:p>
          <a:p>
            <a:r>
              <a:t>컨트롤러는 노드, 컨테이너 또는 엔드포인트가 다운될 때 이를 감지하고 대응합니다.</a:t>
            </a:r>
          </a:p>
          <a:p>
            <a:r>
              <a:t>이런 경우 새 컨테이너(파드)를 올릴지 결정합니다.</a:t>
            </a:r>
          </a:p>
          <a:p>
            <a:r>
              <a:t>Node Controller: 노드가 다운될 때 감지하고 대응합니다.</a:t>
            </a:r>
          </a:p>
          <a:p>
            <a:r>
              <a:t>Replication Controller: 시스템의 각 ReplicationController 오브젝트에 대해 올바른 파드 수를 유지합니다.</a:t>
            </a:r>
          </a:p>
          <a:p>
            <a:r>
              <a:t>Endpoints Controller: Endpoints 오브젝트를 채웁니다(즉, Service와 Pod를 연결합니다).</a:t>
            </a:r>
          </a:p>
          <a:p>
            <a:r>
              <a:t>Service Account &amp; Token Controller: 새 네임스페이스에 대한 기본 계정과 API 접근(토큰)을 생성합니다.</a:t>
            </a:r>
          </a:p>
        </p:txBody>
      </p:sp>
    </p:spTree>
    <p:extLst>
      <p:ext uri="{BB962C8B-B14F-4D97-AF65-F5344CB8AC3E}">
        <p14:creationId xmlns:p14="http://schemas.microsoft.com/office/powerpoint/2010/main" val="131577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819D0E-61B2-4717-949A-53CE5D3582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840114-9439-4B2E-A512-1F12425E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07" y="-145598"/>
            <a:ext cx="12618720" cy="1188851"/>
          </a:xfrm>
        </p:spPr>
        <p:txBody>
          <a:bodyPr/>
          <a:lstStyle/>
          <a:p>
            <a:r>
              <a:t>쿠버네티스 아키텍처 - 마스터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EBDD3-C074-4FD1-90DE-DBEA7232FDD0}"/>
              </a:ext>
            </a:extLst>
          </p:cNvPr>
          <p:cNvSpPr/>
          <p:nvPr/>
        </p:nvSpPr>
        <p:spPr>
          <a:xfrm>
            <a:off x="297349" y="1369113"/>
            <a:ext cx="4761187" cy="5747543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4B9D87-4A32-4603-9B2B-8992F516F95E}"/>
              </a:ext>
            </a:extLst>
          </p:cNvPr>
          <p:cNvSpPr/>
          <p:nvPr/>
        </p:nvSpPr>
        <p:spPr>
          <a:xfrm>
            <a:off x="613457" y="2086070"/>
            <a:ext cx="1469985" cy="104172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kube 컨트롤러 매니저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D2489E-5A2A-4FBF-9F64-78611E804517}"/>
              </a:ext>
            </a:extLst>
          </p:cNvPr>
          <p:cNvSpPr/>
          <p:nvPr/>
        </p:nvSpPr>
        <p:spPr>
          <a:xfrm>
            <a:off x="3313751" y="2089942"/>
            <a:ext cx="1469985" cy="104172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클라우드 컨트롤러 매니저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113BCF-03A4-4A84-9818-3EBEDCF464AC}"/>
              </a:ext>
            </a:extLst>
          </p:cNvPr>
          <p:cNvSpPr/>
          <p:nvPr/>
        </p:nvSpPr>
        <p:spPr>
          <a:xfrm>
            <a:off x="613457" y="3740392"/>
            <a:ext cx="4170279" cy="5847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kube-apiserver</a:t>
            </a:r>
            <a:endParaRPr lang="en-IN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226CD4-907D-4280-AA42-EB153B5FFC39}"/>
              </a:ext>
            </a:extLst>
          </p:cNvPr>
          <p:cNvSpPr/>
          <p:nvPr/>
        </p:nvSpPr>
        <p:spPr>
          <a:xfrm>
            <a:off x="3328434" y="5028792"/>
            <a:ext cx="1469985" cy="10417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kube</a:t>
            </a:r>
            <a:r>
              <a:rPr lang="en-IN" sz="1800" dirty="0"/>
              <a:t>-scheduler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9629FC-2B11-45FC-A29A-4200DD758267}"/>
              </a:ext>
            </a:extLst>
          </p:cNvPr>
          <p:cNvSpPr/>
          <p:nvPr/>
        </p:nvSpPr>
        <p:spPr>
          <a:xfrm>
            <a:off x="628139" y="5028792"/>
            <a:ext cx="1469985" cy="104172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 err="1"/>
              <a:t>etcd</a:t>
            </a:r>
            <a:endParaRPr lang="en-IN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4D42D6-E191-4E9A-8951-F30AFFC6FC23}"/>
              </a:ext>
            </a:extLst>
          </p:cNvPr>
          <p:cNvSpPr/>
          <p:nvPr/>
        </p:nvSpPr>
        <p:spPr>
          <a:xfrm>
            <a:off x="514322" y="6452547"/>
            <a:ext cx="4420595" cy="3935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컨테이너 런타임(Docker)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DEE5A2-B43E-4F4B-8DB4-AEE0FC54A5F6}"/>
              </a:ext>
            </a:extLst>
          </p:cNvPr>
          <p:cNvSpPr txBox="1"/>
          <p:nvPr/>
        </p:nvSpPr>
        <p:spPr>
          <a:xfrm>
            <a:off x="2083442" y="1369113"/>
            <a:ext cx="1461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마스터 노드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62D69E-22E7-423F-B81E-31C29DDEE0C5}"/>
              </a:ext>
            </a:extLst>
          </p:cNvPr>
          <p:cNvSpPr/>
          <p:nvPr/>
        </p:nvSpPr>
        <p:spPr>
          <a:xfrm>
            <a:off x="3177551" y="1977482"/>
            <a:ext cx="1713620" cy="1273215"/>
          </a:xfrm>
          <a:prstGeom prst="rect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B7ABAC-3B9D-4C8B-8D8F-BAD420920277}"/>
              </a:ext>
            </a:extLst>
          </p:cNvPr>
          <p:cNvSpPr/>
          <p:nvPr/>
        </p:nvSpPr>
        <p:spPr>
          <a:xfrm>
            <a:off x="499640" y="1967851"/>
            <a:ext cx="1713620" cy="1273215"/>
          </a:xfrm>
          <a:prstGeom prst="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90C2FE-1053-4A1B-A56F-DF605F5B1E33}"/>
              </a:ext>
            </a:extLst>
          </p:cNvPr>
          <p:cNvSpPr/>
          <p:nvPr/>
        </p:nvSpPr>
        <p:spPr>
          <a:xfrm>
            <a:off x="511496" y="3589230"/>
            <a:ext cx="4368099" cy="894949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D6185F-F358-4C5D-B77D-3D8A625E0F76}"/>
              </a:ext>
            </a:extLst>
          </p:cNvPr>
          <p:cNvSpPr/>
          <p:nvPr/>
        </p:nvSpPr>
        <p:spPr>
          <a:xfrm>
            <a:off x="514322" y="4908748"/>
            <a:ext cx="1713620" cy="1273215"/>
          </a:xfrm>
          <a:prstGeom prst="rect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D733293-C1C6-4E0B-AB61-6DE8894C4EC8}"/>
              </a:ext>
            </a:extLst>
          </p:cNvPr>
          <p:cNvSpPr/>
          <p:nvPr/>
        </p:nvSpPr>
        <p:spPr>
          <a:xfrm>
            <a:off x="3206615" y="4908748"/>
            <a:ext cx="1713620" cy="1273215"/>
          </a:xfrm>
          <a:prstGeom prst="rect">
            <a:avLst/>
          </a:prstGeom>
          <a:noFill/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9B34FA18-BECA-4707-891C-9C1672B52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952" y="1369113"/>
            <a:ext cx="8207608" cy="6043242"/>
          </a:xfrm>
        </p:spPr>
        <p:txBody>
          <a:bodyPr>
            <a:normAutofit lnSpcReduction="10000"/>
          </a:bodyPr>
          <a:lstStyle/>
          <a:p>
            <a:r>
              <a:t>cloud-controller-manager</a:t>
            </a:r>
          </a:p>
          <a:p>
            <a:r>
              <a:t>클라우드 제공자별 제어 로직을 포함하는 쿠버네티스 컨트롤 플레인 컴포넌트입니다.</a:t>
            </a:r>
          </a:p>
          <a:p>
            <a:r>
              <a:t>클라우드 제공자에 특화된 컨트롤러만 실행합니다.</a:t>
            </a:r>
          </a:p>
          <a:p>
            <a:r>
              <a:t>온프레미스 쿠버네티스 클러스터에는 이 컴포넌트가 없습니다.</a:t>
            </a:r>
          </a:p>
          <a:p>
            <a:r>
              <a:t>Node controller: 노드가 응답하지 않을 때, 클라우드에서 노드가 삭제되었는지 확인합니다.</a:t>
            </a:r>
          </a:p>
          <a:p>
            <a:r>
              <a:t>Route controller: 하부 클라우드 인프라에 라우트를 설정합니다.</a:t>
            </a:r>
          </a:p>
          <a:p>
            <a:r>
              <a:t>Service controller: 클라우드 로드밸런서를 생성/업데이트/삭제합니다.</a:t>
            </a:r>
          </a:p>
        </p:txBody>
      </p:sp>
    </p:spTree>
    <p:extLst>
      <p:ext uri="{BB962C8B-B14F-4D97-AF65-F5344CB8AC3E}">
        <p14:creationId xmlns:p14="http://schemas.microsoft.com/office/powerpoint/2010/main" val="748048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7192B2-D6BD-489B-AC0D-D2D5237688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16FCB-A013-44E3-BBCD-8EFDF68CF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8178" y="1593017"/>
            <a:ext cx="7947044" cy="5590922"/>
          </a:xfrm>
        </p:spPr>
        <p:txBody>
          <a:bodyPr/>
          <a:lstStyle/>
          <a:p>
            <a:r>
              <a:t>Kubelet</a:t>
            </a:r>
          </a:p>
          <a:p>
            <a:r>
              <a:t>kubelet은 클러스터의 모든 노드에서 실행되는 에이전트입니다.</a:t>
            </a:r>
          </a:p>
          <a:p>
            <a:r>
              <a:t>이 에이전트는 노드에서 파드(Pod) 안의 컨테이너가 정상 실행되도록 보장합니다.</a:t>
            </a:r>
          </a:p>
          <a:p>
            <a:r>
              <a:t>Kube-Proxy</a:t>
            </a:r>
          </a:p>
          <a:p>
            <a:r>
              <a:t>kube-proxy는 클러스터의 각 노드에서 실행되는 네트워크 프록시입니다.</a:t>
            </a:r>
          </a:p>
          <a:p>
            <a:r>
              <a:t>노드의 네트워크 규칙을 유지합니다.</a:t>
            </a:r>
          </a:p>
          <a:p>
            <a:r>
              <a:t>요약하면, 이러한 네트워크 규칙은 클러스터 내부/외부의 네트워크 세션에서 파드로 통신할 수 있게 해줍니다.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27B718-2820-4423-8DA3-52B48E15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쿠버네티스 아키텍처 – 워커 노드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E438FC-67CB-4D2F-AA35-5180353C4EB5}"/>
              </a:ext>
            </a:extLst>
          </p:cNvPr>
          <p:cNvSpPr/>
          <p:nvPr/>
        </p:nvSpPr>
        <p:spPr>
          <a:xfrm>
            <a:off x="317374" y="1619743"/>
            <a:ext cx="4761187" cy="2495057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36941F-717B-48A5-B147-20200A85CAED}"/>
              </a:ext>
            </a:extLst>
          </p:cNvPr>
          <p:cNvSpPr/>
          <p:nvPr/>
        </p:nvSpPr>
        <p:spPr>
          <a:xfrm>
            <a:off x="3223291" y="2460103"/>
            <a:ext cx="1469985" cy="5847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kube-proxy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56661-C9FC-46CF-A13C-716D46BD7127}"/>
              </a:ext>
            </a:extLst>
          </p:cNvPr>
          <p:cNvSpPr txBox="1"/>
          <p:nvPr/>
        </p:nvSpPr>
        <p:spPr>
          <a:xfrm>
            <a:off x="1539342" y="1605304"/>
            <a:ext cx="2404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62996-8BBC-465C-864C-B7513E173178}"/>
              </a:ext>
            </a:extLst>
          </p:cNvPr>
          <p:cNvSpPr/>
          <p:nvPr/>
        </p:nvSpPr>
        <p:spPr>
          <a:xfrm>
            <a:off x="3087358" y="2342780"/>
            <a:ext cx="1713620" cy="822259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E4093C-A69E-49E0-9ECC-D29562A9BF1D}"/>
              </a:ext>
            </a:extLst>
          </p:cNvPr>
          <p:cNvSpPr/>
          <p:nvPr/>
        </p:nvSpPr>
        <p:spPr>
          <a:xfrm>
            <a:off x="763103" y="2460941"/>
            <a:ext cx="1469985" cy="5847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kubelet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CC4E57-0662-4C65-B4D4-B02FD4F0BD91}"/>
              </a:ext>
            </a:extLst>
          </p:cNvPr>
          <p:cNvSpPr/>
          <p:nvPr/>
        </p:nvSpPr>
        <p:spPr>
          <a:xfrm>
            <a:off x="638745" y="2343618"/>
            <a:ext cx="1713620" cy="822259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759A6F-2B41-43AF-9CC8-A9AC2FCB8A71}"/>
              </a:ext>
            </a:extLst>
          </p:cNvPr>
          <p:cNvSpPr/>
          <p:nvPr/>
        </p:nvSpPr>
        <p:spPr>
          <a:xfrm>
            <a:off x="638745" y="3491696"/>
            <a:ext cx="4269519" cy="3935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컨테이너 런타임(Docker)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A6D425-6595-4DC0-A356-AB9F3D5D0667}"/>
              </a:ext>
            </a:extLst>
          </p:cNvPr>
          <p:cNvSpPr txBox="1">
            <a:spLocks/>
          </p:cNvSpPr>
          <p:nvPr/>
        </p:nvSpPr>
        <p:spPr>
          <a:xfrm>
            <a:off x="165178" y="4268159"/>
            <a:ext cx="6768057" cy="3767620"/>
          </a:xfrm>
          <a:prstGeom prst="rect">
            <a:avLst/>
          </a:prstGeom>
        </p:spPr>
        <p:txBody>
          <a:bodyPr vert="horz" lIns="109728" tIns="54864" rIns="109728" bIns="54864" rtlCol="0">
            <a:normAutofit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컨테이너 런타임</a:t>
            </a:r>
          </a:p>
          <a:p>
            <a:r>
              <a:t>컨테이너 런타임은 쿠버네티스 구성요소들을 실행하는 기반 소프트웨어입니다.</a:t>
            </a:r>
          </a:p>
          <a:p>
            <a:r>
              <a:t>여기서는 Docker를 사용하지만, rkt, containerd 등 다른 런타임 옵션도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19166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664" y="1525174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03" y="2468199"/>
            <a:ext cx="9543394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기초</a:t>
            </a:r>
          </a:p>
          <a:p>
            <a:r>
              <a:t>파드(Pod), 레플리카셋(ReplicaSet), 디플로이먼트(Deployment) &amp; 서비스(Service)</a:t>
            </a:r>
          </a:p>
        </p:txBody>
      </p:sp>
    </p:spTree>
    <p:extLst>
      <p:ext uri="{BB962C8B-B14F-4D97-AF65-F5344CB8AC3E}">
        <p14:creationId xmlns:p14="http://schemas.microsoft.com/office/powerpoint/2010/main" val="65173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96DC66-8036-4EE9-928C-778BC28DDF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0ADAE6-B9D6-4E4B-B3C1-8FE45A0AC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63517"/>
            <a:ext cx="12618720" cy="1188851"/>
          </a:xfrm>
        </p:spPr>
        <p:txBody>
          <a:bodyPr/>
          <a:lstStyle/>
          <a:p>
            <a:r>
              <a:t>쿠버네티스 - 기초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3B6DD3-9022-44D6-B5E4-411D5AA6276B}"/>
              </a:ext>
            </a:extLst>
          </p:cNvPr>
          <p:cNvSpPr/>
          <p:nvPr/>
        </p:nvSpPr>
        <p:spPr>
          <a:xfrm>
            <a:off x="3697539" y="1269753"/>
            <a:ext cx="2480441" cy="127025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파드(Pod)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21E955-0ABC-48C6-AE10-55B17EE3C739}"/>
              </a:ext>
            </a:extLst>
          </p:cNvPr>
          <p:cNvSpPr/>
          <p:nvPr/>
        </p:nvSpPr>
        <p:spPr>
          <a:xfrm>
            <a:off x="3697539" y="2779644"/>
            <a:ext cx="2480441" cy="130801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레플리카셋(ReplicaSet)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7D3F0C-12FC-4C48-942F-B4E5BC982149}"/>
              </a:ext>
            </a:extLst>
          </p:cNvPr>
          <p:cNvSpPr/>
          <p:nvPr/>
        </p:nvSpPr>
        <p:spPr>
          <a:xfrm>
            <a:off x="3697539" y="4376492"/>
            <a:ext cx="2480441" cy="131310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디플로이먼트(Deployment)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FF7ADB-587B-4D69-BD40-6BC188D8F646}"/>
              </a:ext>
            </a:extLst>
          </p:cNvPr>
          <p:cNvSpPr/>
          <p:nvPr/>
        </p:nvSpPr>
        <p:spPr>
          <a:xfrm>
            <a:off x="3697538" y="5966857"/>
            <a:ext cx="2480441" cy="131310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서비스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E81190-AF7F-46E7-AB97-1543B32BBFEB}"/>
              </a:ext>
            </a:extLst>
          </p:cNvPr>
          <p:cNvSpPr/>
          <p:nvPr/>
        </p:nvSpPr>
        <p:spPr>
          <a:xfrm>
            <a:off x="89338" y="3734329"/>
            <a:ext cx="2480441" cy="57806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k8s 기초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F97AA3-3FBD-4A65-8715-008766C8DBA1}"/>
              </a:ext>
            </a:extLst>
          </p:cNvPr>
          <p:cNvSpPr/>
          <p:nvPr/>
        </p:nvSpPr>
        <p:spPr>
          <a:xfrm>
            <a:off x="6966255" y="1273712"/>
            <a:ext cx="7490723" cy="126629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파드(POD)는 애플리케이션의 단일 인스턴스입니다.</a:t>
            </a:r>
          </a:p>
          <a:p>
            <a:r>
              <a:t>파드는 쿠버네티스에서 생성할 수 있는 가장 작은 오브젝트입니다.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4683E9-D0AE-4446-BBC3-3EE638E43B0E}"/>
              </a:ext>
            </a:extLst>
          </p:cNvPr>
          <p:cNvSpPr/>
          <p:nvPr/>
        </p:nvSpPr>
        <p:spPr>
          <a:xfrm>
            <a:off x="6966256" y="2774551"/>
            <a:ext cx="7490723" cy="131310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ReplicaSet은 특정 시점에 지정한 개수만큼 동일한 파드 레플리카가 항상 실행되도록 유지합니다.</a:t>
            </a:r>
          </a:p>
          <a:p>
            <a:r>
              <a:t>즉, 지정한 개수의 동일한 파드가 항상 존재하도록(가용성 보장) 사용하는 경우가 많습니다.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14085B-E48A-4FBD-9477-901FAE1550B4}"/>
              </a:ext>
            </a:extLst>
          </p:cNvPr>
          <p:cNvSpPr/>
          <p:nvPr/>
        </p:nvSpPr>
        <p:spPr>
          <a:xfrm>
            <a:off x="6966256" y="4376492"/>
            <a:ext cx="7490723" cy="131310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Deployment는 애플리케이션의 여러 레플리카를 실행하고,</a:t>
            </a:r>
          </a:p>
          <a:p>
            <a:r>
              <a:t>어떤 인스턴스가 실패하거나 응답하지 않으면 자동으로 교체합니다.</a:t>
            </a:r>
          </a:p>
          <a:p>
            <a:r>
              <a:t>애플리케이션 변경 사항을 롤아웃/롤백할 수 있습니다.</a:t>
            </a:r>
          </a:p>
          <a:p>
            <a:r>
              <a:t>Deployment는 상태가 없는(Stateless) 애플리케이션에 적합합니다.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89AB66-39FE-4131-A7B1-DCD6A49B0A4A}"/>
              </a:ext>
            </a:extLst>
          </p:cNvPr>
          <p:cNvSpPr/>
          <p:nvPr/>
        </p:nvSpPr>
        <p:spPr>
          <a:xfrm>
            <a:off x="6966256" y="5966856"/>
            <a:ext cx="7490723" cy="131310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서비스(Service)는 파드에 대한 추상화로, 안정적인(고정) 가상 IP(VIP) 주소를 제공합니다.</a:t>
            </a:r>
          </a:p>
          <a:p>
            <a:r>
              <a:t>쉽게 말해, 서비스는 파드 앞단에 위치하며 로드 밸런서처럼 동작합니다.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C930E0-D0B1-4C51-8615-D8519F81C30F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2569779" y="1904880"/>
            <a:ext cx="1127760" cy="2118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D4A195-5701-4330-A653-298D07EB61AD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2569779" y="3433649"/>
            <a:ext cx="1127760" cy="589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FD4244D-406D-4CF9-B97A-E5F4CAE3A012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>
            <a:off x="2569779" y="4023364"/>
            <a:ext cx="1127760" cy="1009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A402698-140B-4B1A-8ACD-C6BBE7C6A6C4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2569779" y="4023364"/>
            <a:ext cx="1127759" cy="2600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77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6A9E88-D833-AA46-9BCE-83C16E3F1A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D85712-16C4-6D46-BE61-8928DE99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99233"/>
            <a:ext cx="12618720" cy="1188851"/>
          </a:xfrm>
        </p:spPr>
        <p:txBody>
          <a:bodyPr/>
          <a:lstStyle/>
          <a:p>
            <a:r>
              <a:t>쿠버네티스 - 명령형(Imperative) &amp; 선언형(Declarative)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4BF3AD-77BB-8043-BE42-273DF15E35E4}"/>
              </a:ext>
            </a:extLst>
          </p:cNvPr>
          <p:cNvSpPr/>
          <p:nvPr/>
        </p:nvSpPr>
        <p:spPr>
          <a:xfrm>
            <a:off x="7861611" y="3434573"/>
            <a:ext cx="2966224" cy="35989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4750BD-649F-5B44-9AF6-F9CA592B9406}"/>
              </a:ext>
            </a:extLst>
          </p:cNvPr>
          <p:cNvSpPr/>
          <p:nvPr/>
        </p:nvSpPr>
        <p:spPr>
          <a:xfrm>
            <a:off x="8109707" y="4432706"/>
            <a:ext cx="2480441" cy="38425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파드(Pod)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D6854D-CCA2-E44F-9D46-7B750720EE8B}"/>
              </a:ext>
            </a:extLst>
          </p:cNvPr>
          <p:cNvSpPr/>
          <p:nvPr/>
        </p:nvSpPr>
        <p:spPr>
          <a:xfrm>
            <a:off x="8109705" y="5089384"/>
            <a:ext cx="2480441" cy="3956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레플리카셋(ReplicaSet)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82C2BC-04E5-6F4D-9955-EFE955E7A67E}"/>
              </a:ext>
            </a:extLst>
          </p:cNvPr>
          <p:cNvSpPr/>
          <p:nvPr/>
        </p:nvSpPr>
        <p:spPr>
          <a:xfrm>
            <a:off x="8109707" y="5703653"/>
            <a:ext cx="2480441" cy="39721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디플로이먼트(Deployment)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5D16DE-F543-D440-A744-C106C98BE8A5}"/>
              </a:ext>
            </a:extLst>
          </p:cNvPr>
          <p:cNvSpPr/>
          <p:nvPr/>
        </p:nvSpPr>
        <p:spPr>
          <a:xfrm>
            <a:off x="8109706" y="6330337"/>
            <a:ext cx="2480441" cy="39721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서비스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7B4BA6-AB7F-6D4C-89A2-1A18E61FEC83}"/>
              </a:ext>
            </a:extLst>
          </p:cNvPr>
          <p:cNvSpPr/>
          <p:nvPr/>
        </p:nvSpPr>
        <p:spPr>
          <a:xfrm>
            <a:off x="8109705" y="3774180"/>
            <a:ext cx="2480441" cy="38425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YAML 및 kubectl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BB6960-A7F9-8C48-812C-A680ACB87AE3}"/>
              </a:ext>
            </a:extLst>
          </p:cNvPr>
          <p:cNvSpPr/>
          <p:nvPr/>
        </p:nvSpPr>
        <p:spPr>
          <a:xfrm>
            <a:off x="3288227" y="3434573"/>
            <a:ext cx="2966224" cy="35989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55E6AA-5C8C-6B43-88F5-4E71682D16FB}"/>
              </a:ext>
            </a:extLst>
          </p:cNvPr>
          <p:cNvSpPr/>
          <p:nvPr/>
        </p:nvSpPr>
        <p:spPr>
          <a:xfrm>
            <a:off x="3536323" y="4432706"/>
            <a:ext cx="2480441" cy="38425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파드(Pod)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651303-FFB7-E840-9CB9-989C04C2AB06}"/>
              </a:ext>
            </a:extLst>
          </p:cNvPr>
          <p:cNvSpPr/>
          <p:nvPr/>
        </p:nvSpPr>
        <p:spPr>
          <a:xfrm>
            <a:off x="3536321" y="5089384"/>
            <a:ext cx="2480441" cy="3956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레플리카셋(ReplicaSet)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A3F9D4-8B19-2E48-91D6-21C17583D5CD}"/>
              </a:ext>
            </a:extLst>
          </p:cNvPr>
          <p:cNvSpPr/>
          <p:nvPr/>
        </p:nvSpPr>
        <p:spPr>
          <a:xfrm>
            <a:off x="3536323" y="5703653"/>
            <a:ext cx="2480441" cy="39721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디플로이먼트(Deployment)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1A15A6-B512-1849-B0CF-5A5E88D6B5EF}"/>
              </a:ext>
            </a:extLst>
          </p:cNvPr>
          <p:cNvSpPr/>
          <p:nvPr/>
        </p:nvSpPr>
        <p:spPr>
          <a:xfrm>
            <a:off x="3536322" y="6330337"/>
            <a:ext cx="2480441" cy="39721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서비스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93A1455-C864-1843-B8D1-45D62B0F2C61}"/>
              </a:ext>
            </a:extLst>
          </p:cNvPr>
          <p:cNvSpPr/>
          <p:nvPr/>
        </p:nvSpPr>
        <p:spPr>
          <a:xfrm>
            <a:off x="3536321" y="3774180"/>
            <a:ext cx="2480441" cy="38425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kubectl</a:t>
            </a:r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5B08B3-E1A3-684B-8C8B-80FBD2DD515D}"/>
              </a:ext>
            </a:extLst>
          </p:cNvPr>
          <p:cNvSpPr/>
          <p:nvPr/>
        </p:nvSpPr>
        <p:spPr>
          <a:xfrm>
            <a:off x="3288227" y="1461301"/>
            <a:ext cx="7539608" cy="61246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쿠버네티스 기초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D187AD7-AB7B-C84A-AE02-5A291A666D39}"/>
              </a:ext>
            </a:extLst>
          </p:cNvPr>
          <p:cNvSpPr/>
          <p:nvPr/>
        </p:nvSpPr>
        <p:spPr>
          <a:xfrm>
            <a:off x="3288227" y="2340389"/>
            <a:ext cx="2966224" cy="61246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명령형(Imperative)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5E32CE-D155-9942-AEB3-3509F43F095A}"/>
              </a:ext>
            </a:extLst>
          </p:cNvPr>
          <p:cNvSpPr/>
          <p:nvPr/>
        </p:nvSpPr>
        <p:spPr>
          <a:xfrm>
            <a:off x="7861611" y="2337048"/>
            <a:ext cx="2966224" cy="61246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선언형(Declarative)</a:t>
            </a:r>
          </a:p>
        </p:txBody>
      </p:sp>
    </p:spTree>
    <p:extLst>
      <p:ext uri="{BB962C8B-B14F-4D97-AF65-F5344CB8AC3E}">
        <p14:creationId xmlns:p14="http://schemas.microsoft.com/office/powerpoint/2010/main" val="130753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3" y="2899123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파드(Pod)</a:t>
            </a:r>
          </a:p>
        </p:txBody>
      </p:sp>
    </p:spTree>
    <p:extLst>
      <p:ext uri="{BB962C8B-B14F-4D97-AF65-F5344CB8AC3E}">
        <p14:creationId xmlns:p14="http://schemas.microsoft.com/office/powerpoint/2010/main" val="1683723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431606-1E4A-444E-81AB-296A44C1BA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B5910A-CDE4-4027-8243-68233A2C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85866"/>
            <a:ext cx="12618720" cy="1188851"/>
          </a:xfrm>
        </p:spPr>
        <p:txBody>
          <a:bodyPr/>
          <a:lstStyle/>
          <a:p>
            <a:r>
              <a:t>쿠버네티스 - 파드(Pod)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6C71A-3581-4667-A03E-A9434BC87852}"/>
              </a:ext>
            </a:extLst>
          </p:cNvPr>
          <p:cNvSpPr/>
          <p:nvPr/>
        </p:nvSpPr>
        <p:spPr>
          <a:xfrm>
            <a:off x="8461093" y="4045050"/>
            <a:ext cx="5926238" cy="3095734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DA3F65-ED65-4555-A34B-CB7C5680439E}"/>
              </a:ext>
            </a:extLst>
          </p:cNvPr>
          <p:cNvSpPr txBox="1"/>
          <p:nvPr/>
        </p:nvSpPr>
        <p:spPr>
          <a:xfrm>
            <a:off x="11932506" y="6344055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B7C6295-EA92-47AD-8CA0-D946B96AC601}"/>
              </a:ext>
            </a:extLst>
          </p:cNvPr>
          <p:cNvSpPr txBox="1"/>
          <p:nvPr/>
        </p:nvSpPr>
        <p:spPr>
          <a:xfrm>
            <a:off x="10219838" y="6712823"/>
            <a:ext cx="23544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쿠버네티스 클러스터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2DEFAAD-EB96-46B4-986D-E88A3C0C86C5}"/>
              </a:ext>
            </a:extLst>
          </p:cNvPr>
          <p:cNvSpPr txBox="1"/>
          <p:nvPr/>
        </p:nvSpPr>
        <p:spPr>
          <a:xfrm>
            <a:off x="10881520" y="6417013"/>
            <a:ext cx="8050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노드</a:t>
            </a: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1B7CBC9-8310-49B0-9EE0-65E47C5DF722}"/>
              </a:ext>
            </a:extLst>
          </p:cNvPr>
          <p:cNvGrpSpPr/>
          <p:nvPr/>
        </p:nvGrpSpPr>
        <p:grpSpPr>
          <a:xfrm>
            <a:off x="11024823" y="1472787"/>
            <a:ext cx="1006998" cy="827590"/>
            <a:chOff x="853440" y="4579716"/>
            <a:chExt cx="1006998" cy="827590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8B60BFF6-4BD0-47FF-A7D8-950ED9B60C65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5E29806D-A6F8-451D-9A83-9BA0F2A0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52D6BCB6-0502-4B24-97DC-BB01A7B7C7BA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C5F3FB49-7BE2-4E9C-9E97-FA326CF1AE7A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AB1674AE-2523-4C63-BB6B-11AFBF9B62B0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44378B37-8C64-47D3-8957-BDC13F0AC3C6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1545E87C-1D09-4CD1-9FCA-6FD5CB0066DA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C5BBA7C-70D1-48DA-ABDB-2F96E75465DE}"/>
              </a:ext>
            </a:extLst>
          </p:cNvPr>
          <p:cNvSpPr txBox="1"/>
          <p:nvPr/>
        </p:nvSpPr>
        <p:spPr>
          <a:xfrm>
            <a:off x="10597111" y="2386037"/>
            <a:ext cx="20803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Nginx Container</a:t>
            </a:r>
          </a:p>
          <a:p>
            <a:r>
              <a:t>Image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0512D29-8434-4D7D-9509-32E71137D88F}"/>
              </a:ext>
            </a:extLst>
          </p:cNvPr>
          <p:cNvSpPr/>
          <p:nvPr/>
        </p:nvSpPr>
        <p:spPr>
          <a:xfrm>
            <a:off x="11565281" y="4386007"/>
            <a:ext cx="2517161" cy="23565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8C4E481-6A06-401C-B2D2-5C203293EA91}"/>
              </a:ext>
            </a:extLst>
          </p:cNvPr>
          <p:cNvSpPr/>
          <p:nvPr/>
        </p:nvSpPr>
        <p:spPr>
          <a:xfrm>
            <a:off x="11979997" y="4644946"/>
            <a:ext cx="1689904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F7C1F2D-BF26-4E38-ADB3-0C00247F66C2}"/>
              </a:ext>
            </a:extLst>
          </p:cNvPr>
          <p:cNvSpPr txBox="1"/>
          <p:nvPr/>
        </p:nvSpPr>
        <p:spPr>
          <a:xfrm>
            <a:off x="12456191" y="5930003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5412ACC-B1F1-4E18-BB54-73B41B1F9D8F}"/>
              </a:ext>
            </a:extLst>
          </p:cNvPr>
          <p:cNvGrpSpPr/>
          <p:nvPr/>
        </p:nvGrpSpPr>
        <p:grpSpPr>
          <a:xfrm>
            <a:off x="12321450" y="5005959"/>
            <a:ext cx="1006998" cy="827590"/>
            <a:chOff x="853440" y="4579716"/>
            <a:chExt cx="1006998" cy="827590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7E0BB6E-9631-4D7B-B83D-48FE5617BC41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692AA4A-FB86-437C-8D8A-3E414E32BC3D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E6C26DE-D41D-41C6-B399-01A5694C550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59766DF-EE5E-401A-A7BC-737EA43FF802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EE51AEF-C3F1-4C64-9BC4-07FB06258597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79629E9-AEB0-4DB1-B976-987A21F893C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12E4AD2-DD8E-4211-A6A1-D89A9B17E25E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B7FF907F-DFF6-4DD4-BA81-51021CFF9668}"/>
              </a:ext>
            </a:extLst>
          </p:cNvPr>
          <p:cNvSpPr txBox="1"/>
          <p:nvPr/>
        </p:nvSpPr>
        <p:spPr>
          <a:xfrm>
            <a:off x="11996513" y="6360890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622FB64-1701-4FA2-88BB-D3A6DC996199}"/>
              </a:ext>
            </a:extLst>
          </p:cNvPr>
          <p:cNvSpPr/>
          <p:nvPr/>
        </p:nvSpPr>
        <p:spPr>
          <a:xfrm>
            <a:off x="8827951" y="4386007"/>
            <a:ext cx="2517161" cy="23565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BECCF66-47A0-44EB-8693-DA90A7AC8C13}"/>
              </a:ext>
            </a:extLst>
          </p:cNvPr>
          <p:cNvSpPr/>
          <p:nvPr/>
        </p:nvSpPr>
        <p:spPr>
          <a:xfrm>
            <a:off x="9242667" y="4644946"/>
            <a:ext cx="1689904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818B37C-98D2-4779-AC43-FB41B173DDCF}"/>
              </a:ext>
            </a:extLst>
          </p:cNvPr>
          <p:cNvSpPr txBox="1"/>
          <p:nvPr/>
        </p:nvSpPr>
        <p:spPr>
          <a:xfrm>
            <a:off x="9718861" y="5930003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455ECC0-FD46-4F29-9E01-CDC249C36C7F}"/>
              </a:ext>
            </a:extLst>
          </p:cNvPr>
          <p:cNvGrpSpPr/>
          <p:nvPr/>
        </p:nvGrpSpPr>
        <p:grpSpPr>
          <a:xfrm>
            <a:off x="9584120" y="5005959"/>
            <a:ext cx="1006998" cy="827590"/>
            <a:chOff x="853440" y="4579716"/>
            <a:chExt cx="1006998" cy="827590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1CE9656-7C15-4BDF-88FD-56AE18C601C9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13D22F4-89E5-4F43-9A8A-BD934BEE94B3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6F1061B-9D26-43E5-A9F1-B1EA4D9B07D0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60E7258-012D-482C-825A-6F64C09CAF44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E4EB4D1-2DA9-4B8B-8ABC-20494E2A62D7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914900B-FDC9-476C-86FB-CA755DBD0D9A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2291AF6-B0BC-4A9F-8B09-D1CCB877EB0E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43F8306B-4E8F-407E-85F3-4F984E5A505D}"/>
              </a:ext>
            </a:extLst>
          </p:cNvPr>
          <p:cNvSpPr txBox="1"/>
          <p:nvPr/>
        </p:nvSpPr>
        <p:spPr>
          <a:xfrm>
            <a:off x="9259183" y="6360890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7040E8-7910-4475-837F-35F30D74D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9" y="1109609"/>
            <a:ext cx="7852125" cy="6100777"/>
          </a:xfrm>
        </p:spPr>
        <p:txBody>
          <a:bodyPr>
            <a:normAutofit lnSpcReduction="10000"/>
          </a:bodyPr>
          <a:lstStyle/>
          <a:p>
            <a:r>
              <a:t>쿠버네티스에서 우리의 핵심 목표는 k8s 클러스터의 워커 노드에 컨테이너 형태로 애플리케이션을 배포하는 것입니다.</a:t>
            </a:r>
          </a:p>
          <a:p>
            <a:r>
              <a:t>쿠버네티스는 워커 노드에 컨테이너를 직접 배포하지 않습니다.</a:t>
            </a:r>
          </a:p>
          <a:p>
            <a:r>
              <a:t>컨테이너는 '파드(POD)'라는 쿠버네티스 오브젝트로 캡슐화됩니다.</a:t>
            </a:r>
          </a:p>
          <a:p>
            <a:r>
              <a:t>파드는 애플리케이션의 단일 인스턴스이며, 쿠버네티스에서 만들 수 있는 가장 작은 오브젝트입니다.</a:t>
            </a:r>
          </a:p>
        </p:txBody>
      </p:sp>
    </p:spTree>
    <p:extLst>
      <p:ext uri="{BB962C8B-B14F-4D97-AF65-F5344CB8AC3E}">
        <p14:creationId xmlns:p14="http://schemas.microsoft.com/office/powerpoint/2010/main" val="271829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5" grpId="0"/>
      <p:bldP spid="8" grpId="0"/>
      <p:bldP spid="99" grpId="0" animBg="1"/>
      <p:bldP spid="100" grpId="0" animBg="1"/>
      <p:bldP spid="101" grpId="0"/>
      <p:bldP spid="118" grpId="0"/>
      <p:bldP spid="119" grpId="0" animBg="1"/>
      <p:bldP spid="120" grpId="0" animBg="1"/>
      <p:bldP spid="121" grpId="0"/>
      <p:bldP spid="1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431606-1E4A-444E-81AB-296A44C1BA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B5910A-CDE4-4027-8243-68233A2C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85866"/>
            <a:ext cx="12618720" cy="1188851"/>
          </a:xfrm>
        </p:spPr>
        <p:txBody>
          <a:bodyPr/>
          <a:lstStyle/>
          <a:p>
            <a:r>
              <a:t>쿠버네티스 - 파드(Pod)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6C71A-3581-4667-A03E-A9434BC87852}"/>
              </a:ext>
            </a:extLst>
          </p:cNvPr>
          <p:cNvSpPr/>
          <p:nvPr/>
        </p:nvSpPr>
        <p:spPr>
          <a:xfrm>
            <a:off x="1447733" y="4383687"/>
            <a:ext cx="10791458" cy="3095734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6C7737D-F00E-4501-8814-5A16A7DAC760}"/>
              </a:ext>
            </a:extLst>
          </p:cNvPr>
          <p:cNvSpPr/>
          <p:nvPr/>
        </p:nvSpPr>
        <p:spPr>
          <a:xfrm>
            <a:off x="1798832" y="4733654"/>
            <a:ext cx="4541964" cy="233934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DA3F65-ED65-4555-A34B-CB7C5680439E}"/>
              </a:ext>
            </a:extLst>
          </p:cNvPr>
          <p:cNvSpPr txBox="1"/>
          <p:nvPr/>
        </p:nvSpPr>
        <p:spPr>
          <a:xfrm>
            <a:off x="3033200" y="6675717"/>
            <a:ext cx="2071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 - 1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86486F8-6670-4BB4-A420-0DC1D8FF5907}"/>
              </a:ext>
            </a:extLst>
          </p:cNvPr>
          <p:cNvSpPr/>
          <p:nvPr/>
        </p:nvSpPr>
        <p:spPr>
          <a:xfrm>
            <a:off x="4244122" y="4997760"/>
            <a:ext cx="1689904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6608B5-998F-4597-B290-E16C1259AF4E}"/>
              </a:ext>
            </a:extLst>
          </p:cNvPr>
          <p:cNvSpPr txBox="1"/>
          <p:nvPr/>
        </p:nvSpPr>
        <p:spPr>
          <a:xfrm>
            <a:off x="4720316" y="6282817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B7C6295-EA92-47AD-8CA0-D946B96AC601}"/>
              </a:ext>
            </a:extLst>
          </p:cNvPr>
          <p:cNvSpPr txBox="1"/>
          <p:nvPr/>
        </p:nvSpPr>
        <p:spPr>
          <a:xfrm>
            <a:off x="5673470" y="7108673"/>
            <a:ext cx="23544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쿠버네티스 클러스터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50E5B25-9C86-4816-A4F9-F276AAED274D}"/>
              </a:ext>
            </a:extLst>
          </p:cNvPr>
          <p:cNvGrpSpPr/>
          <p:nvPr/>
        </p:nvGrpSpPr>
        <p:grpSpPr>
          <a:xfrm>
            <a:off x="4585575" y="5358773"/>
            <a:ext cx="1006998" cy="827590"/>
            <a:chOff x="853440" y="4579716"/>
            <a:chExt cx="1006998" cy="827590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A68A4273-2A5A-4334-A317-2009B2D6AC60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03B0E07-D146-4D2B-818A-862739EB03A7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73DA4CB-D39C-4977-AEA8-2F68B148475D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EDEB22A-DEF1-4C64-96D0-6C221FE34D71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B516369-3F7D-48A7-9C25-770C17C33972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305A4FFF-4AA9-4AE8-8BB6-59630B5DC626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E557D2A-AAD0-46E6-AB78-AA10E49E45AF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9F588E27-9F42-4BE5-ADD6-1539DBC3D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446" y="1035650"/>
            <a:ext cx="12935415" cy="1694067"/>
          </a:xfrm>
        </p:spPr>
        <p:txBody>
          <a:bodyPr>
            <a:normAutofit/>
          </a:bodyPr>
          <a:lstStyle/>
          <a:p>
            <a:r>
              <a:t>Ingress는 컨텍스트 경로 기반 라우팅, SSL, SSL 리다이렉트 등 다양한 기능을 제공하는 고급 로드 밸런서입니다.</a:t>
            </a:r>
          </a:p>
          <a:p>
            <a:r>
              <a:t>(예: AWS ALB)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3A4A8BA-7721-4D2A-A4F4-23FE17A086CF}"/>
              </a:ext>
            </a:extLst>
          </p:cNvPr>
          <p:cNvSpPr/>
          <p:nvPr/>
        </p:nvSpPr>
        <p:spPr>
          <a:xfrm>
            <a:off x="2128849" y="4997760"/>
            <a:ext cx="1689904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FCC6E04-3A27-4647-BE56-B184D3B03191}"/>
              </a:ext>
            </a:extLst>
          </p:cNvPr>
          <p:cNvSpPr txBox="1"/>
          <p:nvPr/>
        </p:nvSpPr>
        <p:spPr>
          <a:xfrm>
            <a:off x="2512641" y="6266913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809432BB-FA21-4B63-B22B-EFC6F7B2C4C3}"/>
              </a:ext>
            </a:extLst>
          </p:cNvPr>
          <p:cNvSpPr/>
          <p:nvPr/>
        </p:nvSpPr>
        <p:spPr>
          <a:xfrm>
            <a:off x="7377653" y="4696802"/>
            <a:ext cx="4618196" cy="23565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C2D1A9B6-27D0-47DC-8C60-FE6C7AA0CE3E}"/>
              </a:ext>
            </a:extLst>
          </p:cNvPr>
          <p:cNvSpPr/>
          <p:nvPr/>
        </p:nvSpPr>
        <p:spPr>
          <a:xfrm>
            <a:off x="9893404" y="4955741"/>
            <a:ext cx="1689904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8CFEB02-5E36-4E72-AB72-7201D7705762}"/>
              </a:ext>
            </a:extLst>
          </p:cNvPr>
          <p:cNvSpPr txBox="1"/>
          <p:nvPr/>
        </p:nvSpPr>
        <p:spPr>
          <a:xfrm>
            <a:off x="10369598" y="6240798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67EFE3F-8E7D-4F19-B934-8196821458C8}"/>
              </a:ext>
            </a:extLst>
          </p:cNvPr>
          <p:cNvGrpSpPr/>
          <p:nvPr/>
        </p:nvGrpSpPr>
        <p:grpSpPr>
          <a:xfrm>
            <a:off x="10234857" y="5316754"/>
            <a:ext cx="1006998" cy="827590"/>
            <a:chOff x="853440" y="4579716"/>
            <a:chExt cx="1006998" cy="827590"/>
          </a:xfrm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2DE4DCAB-7591-4570-B8DF-DAAD479E82AF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C42CA3CC-3988-4839-8B26-ECD3EDC6BD46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ACE43582-2FEA-425A-A7D2-707721F6887C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F0028450-DDEA-483E-BA6D-E7BF3249B18E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736C19D2-558E-4D2D-AF38-CCBF3F50D4C5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7E470B7-5C58-4EBE-A721-E69C60D969AA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54BC156-1BB8-4E22-B7BA-3CD2BEAE787C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309CA4E-357A-4AAA-B8D9-2E9FBBD95F02}"/>
              </a:ext>
            </a:extLst>
          </p:cNvPr>
          <p:cNvGrpSpPr/>
          <p:nvPr/>
        </p:nvGrpSpPr>
        <p:grpSpPr>
          <a:xfrm>
            <a:off x="2462869" y="5406658"/>
            <a:ext cx="1006998" cy="827590"/>
            <a:chOff x="853440" y="4579716"/>
            <a:chExt cx="1006998" cy="827590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54C45C4-D2B1-42F2-8742-8B20EB1E9922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BCDFBAFE-6235-40B7-9B16-7D5542313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A72375A-BEF5-4AC2-BE03-FDBAA1ED0C1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884BEDC-D68E-47CA-B557-60CBD7E0ADDB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958CD1B2-A5D9-46D8-8B27-1E11EF1B3C82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20623586-DA63-48A5-AE08-1489589B0ECA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970CE6F-34E1-4ED6-AF57-E4B18D011EA0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pic>
        <p:nvPicPr>
          <p:cNvPr id="10" name="Graphic 9" descr="User">
            <a:extLst>
              <a:ext uri="{FF2B5EF4-FFF2-40B4-BE49-F238E27FC236}">
                <a16:creationId xmlns:a16="http://schemas.microsoft.com/office/drawing/2014/main" id="{E6953B64-3E5C-4119-B570-48D9FDE69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3643" y="2983632"/>
            <a:ext cx="914400" cy="914400"/>
          </a:xfrm>
          <a:prstGeom prst="rect">
            <a:avLst/>
          </a:prstGeom>
        </p:spPr>
      </p:pic>
      <p:pic>
        <p:nvPicPr>
          <p:cNvPr id="203" name="Graphic 202" descr="User">
            <a:extLst>
              <a:ext uri="{FF2B5EF4-FFF2-40B4-BE49-F238E27FC236}">
                <a16:creationId xmlns:a16="http://schemas.microsoft.com/office/drawing/2014/main" id="{6AE6CA85-47FC-40E3-88ED-5B04FF970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9626" y="2983632"/>
            <a:ext cx="914400" cy="914400"/>
          </a:xfrm>
          <a:prstGeom prst="rect">
            <a:avLst/>
          </a:prstGeom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68BB7FA1-930A-4EEB-AE34-46352A12A5F9}"/>
              </a:ext>
            </a:extLst>
          </p:cNvPr>
          <p:cNvSpPr txBox="1"/>
          <p:nvPr/>
        </p:nvSpPr>
        <p:spPr>
          <a:xfrm>
            <a:off x="8703407" y="6671685"/>
            <a:ext cx="2071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 - 2</a:t>
            </a:r>
          </a:p>
        </p:txBody>
      </p:sp>
      <p:pic>
        <p:nvPicPr>
          <p:cNvPr id="205" name="Graphic 204" descr="User">
            <a:extLst>
              <a:ext uri="{FF2B5EF4-FFF2-40B4-BE49-F238E27FC236}">
                <a16:creationId xmlns:a16="http://schemas.microsoft.com/office/drawing/2014/main" id="{F349E2F8-3417-4AB7-8447-6F8DD8C41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5771" y="2973665"/>
            <a:ext cx="914400" cy="914400"/>
          </a:xfrm>
          <a:prstGeom prst="rect">
            <a:avLst/>
          </a:prstGeom>
        </p:spPr>
      </p:pic>
      <p:pic>
        <p:nvPicPr>
          <p:cNvPr id="206" name="Graphic 205" descr="User">
            <a:extLst>
              <a:ext uri="{FF2B5EF4-FFF2-40B4-BE49-F238E27FC236}">
                <a16:creationId xmlns:a16="http://schemas.microsoft.com/office/drawing/2014/main" id="{1C4BAC88-1D30-487F-A469-9E0709598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1754" y="2973665"/>
            <a:ext cx="914400" cy="914400"/>
          </a:xfrm>
          <a:prstGeom prst="rect">
            <a:avLst/>
          </a:prstGeom>
        </p:spPr>
      </p:pic>
      <p:pic>
        <p:nvPicPr>
          <p:cNvPr id="209" name="Graphic 208" descr="User">
            <a:extLst>
              <a:ext uri="{FF2B5EF4-FFF2-40B4-BE49-F238E27FC236}">
                <a16:creationId xmlns:a16="http://schemas.microsoft.com/office/drawing/2014/main" id="{68C5EBCB-5287-42B1-8200-AF740B82E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7653" y="2962091"/>
            <a:ext cx="914400" cy="914400"/>
          </a:xfrm>
          <a:prstGeom prst="rect">
            <a:avLst/>
          </a:prstGeom>
        </p:spPr>
      </p:pic>
      <p:pic>
        <p:nvPicPr>
          <p:cNvPr id="210" name="Graphic 209" descr="User">
            <a:extLst>
              <a:ext uri="{FF2B5EF4-FFF2-40B4-BE49-F238E27FC236}">
                <a16:creationId xmlns:a16="http://schemas.microsoft.com/office/drawing/2014/main" id="{CA179477-32B7-4B53-9DF8-ABEB9C5FA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3636" y="2962091"/>
            <a:ext cx="914400" cy="914400"/>
          </a:xfrm>
          <a:prstGeom prst="rect">
            <a:avLst/>
          </a:prstGeom>
        </p:spPr>
      </p:pic>
      <p:pic>
        <p:nvPicPr>
          <p:cNvPr id="211" name="Graphic 210" descr="User">
            <a:extLst>
              <a:ext uri="{FF2B5EF4-FFF2-40B4-BE49-F238E27FC236}">
                <a16:creationId xmlns:a16="http://schemas.microsoft.com/office/drawing/2014/main" id="{BCC93663-97A2-41C7-A15F-DC836F8EA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9781" y="2952124"/>
            <a:ext cx="914400" cy="914400"/>
          </a:xfrm>
          <a:prstGeom prst="rect">
            <a:avLst/>
          </a:prstGeom>
        </p:spPr>
      </p:pic>
      <p:pic>
        <p:nvPicPr>
          <p:cNvPr id="212" name="Graphic 211" descr="User">
            <a:extLst>
              <a:ext uri="{FF2B5EF4-FFF2-40B4-BE49-F238E27FC236}">
                <a16:creationId xmlns:a16="http://schemas.microsoft.com/office/drawing/2014/main" id="{0B763A72-A9DE-4859-B2C1-9AF6F8609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5764" y="2952124"/>
            <a:ext cx="914400" cy="9144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5A02FB-169A-49CD-B5FB-3943602343F5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380843" y="3898032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E9B9E33D-1453-470F-9A37-5060CDD886A7}"/>
              </a:ext>
            </a:extLst>
          </p:cNvPr>
          <p:cNvCxnSpPr>
            <a:cxnSpLocks/>
            <a:stCxn id="203" idx="2"/>
          </p:cNvCxnSpPr>
          <p:nvPr/>
        </p:nvCxnSpPr>
        <p:spPr>
          <a:xfrm>
            <a:off x="4526826" y="3898032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84BF2B2F-0A25-4778-9B32-C066FBDFEB5F}"/>
              </a:ext>
            </a:extLst>
          </p:cNvPr>
          <p:cNvCxnSpPr>
            <a:cxnSpLocks/>
          </p:cNvCxnSpPr>
          <p:nvPr/>
        </p:nvCxnSpPr>
        <p:spPr>
          <a:xfrm>
            <a:off x="5639222" y="3901282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101AB003-C932-4194-922F-2D2EA261CEBE}"/>
              </a:ext>
            </a:extLst>
          </p:cNvPr>
          <p:cNvCxnSpPr>
            <a:cxnSpLocks/>
          </p:cNvCxnSpPr>
          <p:nvPr/>
        </p:nvCxnSpPr>
        <p:spPr>
          <a:xfrm>
            <a:off x="6785205" y="3901282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4ECD6095-C143-4D24-AE2F-ED661878D0B0}"/>
              </a:ext>
            </a:extLst>
          </p:cNvPr>
          <p:cNvCxnSpPr>
            <a:cxnSpLocks/>
          </p:cNvCxnSpPr>
          <p:nvPr/>
        </p:nvCxnSpPr>
        <p:spPr>
          <a:xfrm>
            <a:off x="7858661" y="3913504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F71D7EC6-E3C7-4B64-A516-2BFEFFDCC6ED}"/>
              </a:ext>
            </a:extLst>
          </p:cNvPr>
          <p:cNvCxnSpPr>
            <a:cxnSpLocks/>
          </p:cNvCxnSpPr>
          <p:nvPr/>
        </p:nvCxnSpPr>
        <p:spPr>
          <a:xfrm>
            <a:off x="9004644" y="3913504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A0DB3837-AB24-440D-9108-12721EBCE76E}"/>
              </a:ext>
            </a:extLst>
          </p:cNvPr>
          <p:cNvCxnSpPr>
            <a:cxnSpLocks/>
          </p:cNvCxnSpPr>
          <p:nvPr/>
        </p:nvCxnSpPr>
        <p:spPr>
          <a:xfrm>
            <a:off x="10117040" y="3916754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8DF00733-B378-447B-ACE7-1D6EFC83AFAF}"/>
              </a:ext>
            </a:extLst>
          </p:cNvPr>
          <p:cNvCxnSpPr>
            <a:cxnSpLocks/>
          </p:cNvCxnSpPr>
          <p:nvPr/>
        </p:nvCxnSpPr>
        <p:spPr>
          <a:xfrm>
            <a:off x="11263023" y="3916754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A8ADADD6-33CE-364A-94E6-4997823B1491}"/>
              </a:ext>
            </a:extLst>
          </p:cNvPr>
          <p:cNvSpPr/>
          <p:nvPr/>
        </p:nvSpPr>
        <p:spPr>
          <a:xfrm>
            <a:off x="7745032" y="4981454"/>
            <a:ext cx="1689904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415FD1A-B65D-5A4A-AE09-9A6710001508}"/>
              </a:ext>
            </a:extLst>
          </p:cNvPr>
          <p:cNvSpPr txBox="1"/>
          <p:nvPr/>
        </p:nvSpPr>
        <p:spPr>
          <a:xfrm>
            <a:off x="8221226" y="6266511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025C362-6688-1D41-9DCD-CBD0A0D76A15}"/>
              </a:ext>
            </a:extLst>
          </p:cNvPr>
          <p:cNvGrpSpPr/>
          <p:nvPr/>
        </p:nvGrpSpPr>
        <p:grpSpPr>
          <a:xfrm>
            <a:off x="8086485" y="5342467"/>
            <a:ext cx="1006998" cy="827590"/>
            <a:chOff x="853440" y="4579716"/>
            <a:chExt cx="1006998" cy="82759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274DFFB-6CAA-7B45-A90D-52AEB48F4A5D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F7A2470-70D0-DB4F-9AFB-6A080B737ED6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D2C6177-23F9-3945-9FFD-E0823E99B06E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C8AD880-17F0-2A4C-AEC4-081A65633A95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B956FBC-2833-2041-9DA0-2EEAA8270F68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027EE2F-8CBE-A143-8F78-D61C6DDB3851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F0D0A08-208E-3845-9178-2638FA5D2931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318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0" grpId="0" animBg="1"/>
      <p:bldP spid="59" grpId="0"/>
      <p:bldP spid="67" grpId="0" animBg="1"/>
      <p:bldP spid="75" grpId="0"/>
      <p:bldP spid="85" grpId="0"/>
      <p:bldP spid="174" grpId="0" animBg="1"/>
      <p:bldP spid="175" grpId="0"/>
      <p:bldP spid="184" grpId="0" animBg="1"/>
      <p:bldP spid="185" grpId="0" animBg="1"/>
      <p:bldP spid="186" grpId="0"/>
      <p:bldP spid="204" grpId="0"/>
      <p:bldP spid="78" grpId="0" animBg="1"/>
      <p:bldP spid="7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431606-1E4A-444E-81AB-296A44C1BA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B5910A-CDE4-4027-8243-68233A2C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85866"/>
            <a:ext cx="12618720" cy="1188851"/>
          </a:xfrm>
        </p:spPr>
        <p:txBody>
          <a:bodyPr/>
          <a:lstStyle/>
          <a:p>
            <a:r>
              <a:t>쿠버네티스 – 파드들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6C71A-3581-4667-A03E-A9434BC87852}"/>
              </a:ext>
            </a:extLst>
          </p:cNvPr>
          <p:cNvSpPr/>
          <p:nvPr/>
        </p:nvSpPr>
        <p:spPr>
          <a:xfrm>
            <a:off x="1447732" y="4383687"/>
            <a:ext cx="11846257" cy="3095734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6C7737D-F00E-4501-8814-5A16A7DAC760}"/>
              </a:ext>
            </a:extLst>
          </p:cNvPr>
          <p:cNvSpPr/>
          <p:nvPr/>
        </p:nvSpPr>
        <p:spPr>
          <a:xfrm>
            <a:off x="1844413" y="4756619"/>
            <a:ext cx="5972512" cy="233934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DA3F65-ED65-4555-A34B-CB7C5680439E}"/>
              </a:ext>
            </a:extLst>
          </p:cNvPr>
          <p:cNvSpPr txBox="1"/>
          <p:nvPr/>
        </p:nvSpPr>
        <p:spPr>
          <a:xfrm>
            <a:off x="3647714" y="6695773"/>
            <a:ext cx="2071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 - 1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B7C6295-EA92-47AD-8CA0-D946B96AC601}"/>
              </a:ext>
            </a:extLst>
          </p:cNvPr>
          <p:cNvSpPr txBox="1"/>
          <p:nvPr/>
        </p:nvSpPr>
        <p:spPr>
          <a:xfrm>
            <a:off x="6733197" y="7096773"/>
            <a:ext cx="23544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쿠버네티스 클러스터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23720A5-F991-4783-B1CB-0F997406EF36}"/>
              </a:ext>
            </a:extLst>
          </p:cNvPr>
          <p:cNvSpPr/>
          <p:nvPr/>
        </p:nvSpPr>
        <p:spPr>
          <a:xfrm>
            <a:off x="2100254" y="5015558"/>
            <a:ext cx="3313427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209DBF4-835C-4772-AA5A-4494D6C078CB}"/>
              </a:ext>
            </a:extLst>
          </p:cNvPr>
          <p:cNvSpPr txBox="1"/>
          <p:nvPr/>
        </p:nvSpPr>
        <p:spPr>
          <a:xfrm>
            <a:off x="3452143" y="6300615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73E02FF-619F-4E39-B53C-856B749E1C49}"/>
              </a:ext>
            </a:extLst>
          </p:cNvPr>
          <p:cNvGrpSpPr/>
          <p:nvPr/>
        </p:nvGrpSpPr>
        <p:grpSpPr>
          <a:xfrm>
            <a:off x="2386762" y="5373677"/>
            <a:ext cx="1006998" cy="827590"/>
            <a:chOff x="853440" y="4579716"/>
            <a:chExt cx="1006998" cy="827590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1566CA6-647D-49DA-A1EC-ADC4328C3E95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9887BBE-316C-484C-86DD-29C626FF2162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003A9420-B9E0-4CF3-B61B-512F97923438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27E63067-3D1A-4FE9-9F0D-F0683173F840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0FB3992-3ECB-4EC0-ACFC-22CC137EA537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B0DE9F7-0059-4F95-8F9F-3B5320E482FC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587C9E5-35AC-4F82-A29D-3002DF719F14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DB67EFB-F05F-4A93-A9D3-C15E63B4B490}"/>
              </a:ext>
            </a:extLst>
          </p:cNvPr>
          <p:cNvGrpSpPr/>
          <p:nvPr/>
        </p:nvGrpSpPr>
        <p:grpSpPr>
          <a:xfrm>
            <a:off x="3927080" y="5255915"/>
            <a:ext cx="1250066" cy="1030147"/>
            <a:chOff x="698628" y="4440514"/>
            <a:chExt cx="1250066" cy="1030147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2E88B424-D758-457D-A0C1-503AED1613E4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76997453-0CD8-4BB6-9427-2C24C918AD66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F56EF418-60A3-41F5-9F2F-20D330A3D962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87BED9FF-44F8-488F-A508-2C74341CB9AA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86E41D91-CC12-4FAA-BABA-417676255900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3B43B28E-AC38-4760-BE41-99B40E1A1F6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CD05AC8-9F67-473D-BFFF-4F104A4ED568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C77116EB-722A-4ED2-9B19-D8F958B467F3}"/>
                </a:ext>
              </a:extLst>
            </p:cNvPr>
            <p:cNvCxnSpPr/>
            <p:nvPr/>
          </p:nvCxnSpPr>
          <p:spPr>
            <a:xfrm>
              <a:off x="698628" y="4440514"/>
              <a:ext cx="1250066" cy="1030147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15CAD2BE-6B7B-4A36-A795-FC12DC0DF6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184" y="4440514"/>
              <a:ext cx="1183510" cy="1030147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809432BB-FA21-4B63-B22B-EFC6F7B2C4C3}"/>
              </a:ext>
            </a:extLst>
          </p:cNvPr>
          <p:cNvSpPr/>
          <p:nvPr/>
        </p:nvSpPr>
        <p:spPr>
          <a:xfrm>
            <a:off x="8213606" y="4733654"/>
            <a:ext cx="4723065" cy="23565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C2D1A9B6-27D0-47DC-8C60-FE6C7AA0CE3E}"/>
              </a:ext>
            </a:extLst>
          </p:cNvPr>
          <p:cNvSpPr/>
          <p:nvPr/>
        </p:nvSpPr>
        <p:spPr>
          <a:xfrm>
            <a:off x="10834226" y="4992593"/>
            <a:ext cx="1689904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8CFEB02-5E36-4E72-AB72-7201D7705762}"/>
              </a:ext>
            </a:extLst>
          </p:cNvPr>
          <p:cNvSpPr txBox="1"/>
          <p:nvPr/>
        </p:nvSpPr>
        <p:spPr>
          <a:xfrm>
            <a:off x="11310420" y="6277650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67EFE3F-8E7D-4F19-B934-8196821458C8}"/>
              </a:ext>
            </a:extLst>
          </p:cNvPr>
          <p:cNvGrpSpPr/>
          <p:nvPr/>
        </p:nvGrpSpPr>
        <p:grpSpPr>
          <a:xfrm>
            <a:off x="11175679" y="5353606"/>
            <a:ext cx="1006998" cy="827590"/>
            <a:chOff x="853440" y="4579716"/>
            <a:chExt cx="1006998" cy="827590"/>
          </a:xfrm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2DE4DCAB-7591-4570-B8DF-DAAD479E82AF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C42CA3CC-3988-4839-8B26-ECD3EDC6BD46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ACE43582-2FEA-425A-A7D2-707721F6887C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F0028450-DDEA-483E-BA6D-E7BF3249B18E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736C19D2-558E-4D2D-AF38-CCBF3F50D4C5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7E470B7-5C58-4EBE-A721-E69C60D969AA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54BC156-1BB8-4E22-B7BA-3CD2BEAE787C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pic>
        <p:nvPicPr>
          <p:cNvPr id="10" name="Graphic 9" descr="User">
            <a:extLst>
              <a:ext uri="{FF2B5EF4-FFF2-40B4-BE49-F238E27FC236}">
                <a16:creationId xmlns:a16="http://schemas.microsoft.com/office/drawing/2014/main" id="{E6953B64-3E5C-4119-B570-48D9FDE69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3643" y="2983632"/>
            <a:ext cx="914400" cy="914400"/>
          </a:xfrm>
          <a:prstGeom prst="rect">
            <a:avLst/>
          </a:prstGeom>
        </p:spPr>
      </p:pic>
      <p:pic>
        <p:nvPicPr>
          <p:cNvPr id="203" name="Graphic 202" descr="User">
            <a:extLst>
              <a:ext uri="{FF2B5EF4-FFF2-40B4-BE49-F238E27FC236}">
                <a16:creationId xmlns:a16="http://schemas.microsoft.com/office/drawing/2014/main" id="{6AE6CA85-47FC-40E3-88ED-5B04FF970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9626" y="2983632"/>
            <a:ext cx="914400" cy="914400"/>
          </a:xfrm>
          <a:prstGeom prst="rect">
            <a:avLst/>
          </a:prstGeom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68BB7FA1-930A-4EEB-AE34-46352A12A5F9}"/>
              </a:ext>
            </a:extLst>
          </p:cNvPr>
          <p:cNvSpPr txBox="1"/>
          <p:nvPr/>
        </p:nvSpPr>
        <p:spPr>
          <a:xfrm>
            <a:off x="9638014" y="6661261"/>
            <a:ext cx="2071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 - 2</a:t>
            </a:r>
          </a:p>
        </p:txBody>
      </p:sp>
      <p:pic>
        <p:nvPicPr>
          <p:cNvPr id="205" name="Graphic 204" descr="User">
            <a:extLst>
              <a:ext uri="{FF2B5EF4-FFF2-40B4-BE49-F238E27FC236}">
                <a16:creationId xmlns:a16="http://schemas.microsoft.com/office/drawing/2014/main" id="{F349E2F8-3417-4AB7-8447-6F8DD8C41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5771" y="2973665"/>
            <a:ext cx="914400" cy="914400"/>
          </a:xfrm>
          <a:prstGeom prst="rect">
            <a:avLst/>
          </a:prstGeom>
        </p:spPr>
      </p:pic>
      <p:pic>
        <p:nvPicPr>
          <p:cNvPr id="206" name="Graphic 205" descr="User">
            <a:extLst>
              <a:ext uri="{FF2B5EF4-FFF2-40B4-BE49-F238E27FC236}">
                <a16:creationId xmlns:a16="http://schemas.microsoft.com/office/drawing/2014/main" id="{1C4BAC88-1D30-487F-A469-9E0709598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1754" y="2973665"/>
            <a:ext cx="914400" cy="914400"/>
          </a:xfrm>
          <a:prstGeom prst="rect">
            <a:avLst/>
          </a:prstGeom>
        </p:spPr>
      </p:pic>
      <p:pic>
        <p:nvPicPr>
          <p:cNvPr id="209" name="Graphic 208" descr="User">
            <a:extLst>
              <a:ext uri="{FF2B5EF4-FFF2-40B4-BE49-F238E27FC236}">
                <a16:creationId xmlns:a16="http://schemas.microsoft.com/office/drawing/2014/main" id="{68C5EBCB-5287-42B1-8200-AF740B82E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7653" y="2962091"/>
            <a:ext cx="914400" cy="914400"/>
          </a:xfrm>
          <a:prstGeom prst="rect">
            <a:avLst/>
          </a:prstGeom>
        </p:spPr>
      </p:pic>
      <p:pic>
        <p:nvPicPr>
          <p:cNvPr id="210" name="Graphic 209" descr="User">
            <a:extLst>
              <a:ext uri="{FF2B5EF4-FFF2-40B4-BE49-F238E27FC236}">
                <a16:creationId xmlns:a16="http://schemas.microsoft.com/office/drawing/2014/main" id="{CA179477-32B7-4B53-9DF8-ABEB9C5FA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3636" y="2962091"/>
            <a:ext cx="914400" cy="914400"/>
          </a:xfrm>
          <a:prstGeom prst="rect">
            <a:avLst/>
          </a:prstGeom>
        </p:spPr>
      </p:pic>
      <p:pic>
        <p:nvPicPr>
          <p:cNvPr id="211" name="Graphic 210" descr="User">
            <a:extLst>
              <a:ext uri="{FF2B5EF4-FFF2-40B4-BE49-F238E27FC236}">
                <a16:creationId xmlns:a16="http://schemas.microsoft.com/office/drawing/2014/main" id="{BCC93663-97A2-41C7-A15F-DC836F8EA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9781" y="2952124"/>
            <a:ext cx="914400" cy="914400"/>
          </a:xfrm>
          <a:prstGeom prst="rect">
            <a:avLst/>
          </a:prstGeom>
        </p:spPr>
      </p:pic>
      <p:pic>
        <p:nvPicPr>
          <p:cNvPr id="212" name="Graphic 211" descr="User">
            <a:extLst>
              <a:ext uri="{FF2B5EF4-FFF2-40B4-BE49-F238E27FC236}">
                <a16:creationId xmlns:a16="http://schemas.microsoft.com/office/drawing/2014/main" id="{0B763A72-A9DE-4859-B2C1-9AF6F8609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5764" y="2952124"/>
            <a:ext cx="914400" cy="9144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5A02FB-169A-49CD-B5FB-3943602343F5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380843" y="3898032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E9B9E33D-1453-470F-9A37-5060CDD886A7}"/>
              </a:ext>
            </a:extLst>
          </p:cNvPr>
          <p:cNvCxnSpPr>
            <a:cxnSpLocks/>
            <a:stCxn id="203" idx="2"/>
          </p:cNvCxnSpPr>
          <p:nvPr/>
        </p:nvCxnSpPr>
        <p:spPr>
          <a:xfrm>
            <a:off x="4526826" y="3898032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84BF2B2F-0A25-4778-9B32-C066FBDFEB5F}"/>
              </a:ext>
            </a:extLst>
          </p:cNvPr>
          <p:cNvCxnSpPr>
            <a:cxnSpLocks/>
          </p:cNvCxnSpPr>
          <p:nvPr/>
        </p:nvCxnSpPr>
        <p:spPr>
          <a:xfrm>
            <a:off x="5639222" y="3901282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101AB003-C932-4194-922F-2D2EA261CEBE}"/>
              </a:ext>
            </a:extLst>
          </p:cNvPr>
          <p:cNvCxnSpPr>
            <a:cxnSpLocks/>
          </p:cNvCxnSpPr>
          <p:nvPr/>
        </p:nvCxnSpPr>
        <p:spPr>
          <a:xfrm>
            <a:off x="6785205" y="3901282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4ECD6095-C143-4D24-AE2F-ED661878D0B0}"/>
              </a:ext>
            </a:extLst>
          </p:cNvPr>
          <p:cNvCxnSpPr>
            <a:cxnSpLocks/>
          </p:cNvCxnSpPr>
          <p:nvPr/>
        </p:nvCxnSpPr>
        <p:spPr>
          <a:xfrm>
            <a:off x="7858661" y="3913504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F71D7EC6-E3C7-4B64-A516-2BFEFFDCC6ED}"/>
              </a:ext>
            </a:extLst>
          </p:cNvPr>
          <p:cNvCxnSpPr>
            <a:cxnSpLocks/>
          </p:cNvCxnSpPr>
          <p:nvPr/>
        </p:nvCxnSpPr>
        <p:spPr>
          <a:xfrm>
            <a:off x="9004644" y="3913504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A0DB3837-AB24-440D-9108-12721EBCE76E}"/>
              </a:ext>
            </a:extLst>
          </p:cNvPr>
          <p:cNvCxnSpPr>
            <a:cxnSpLocks/>
          </p:cNvCxnSpPr>
          <p:nvPr/>
        </p:nvCxnSpPr>
        <p:spPr>
          <a:xfrm>
            <a:off x="10117040" y="3916754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8DF00733-B378-447B-ACE7-1D6EFC83AFAF}"/>
              </a:ext>
            </a:extLst>
          </p:cNvPr>
          <p:cNvCxnSpPr>
            <a:cxnSpLocks/>
          </p:cNvCxnSpPr>
          <p:nvPr/>
        </p:nvCxnSpPr>
        <p:spPr>
          <a:xfrm>
            <a:off x="11263023" y="3916754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Content Placeholder 2">
            <a:extLst>
              <a:ext uri="{FF2B5EF4-FFF2-40B4-BE49-F238E27FC236}">
                <a16:creationId xmlns:a16="http://schemas.microsoft.com/office/drawing/2014/main" id="{634A1C79-06E8-4AFF-9AE5-60C1BB66C587}"/>
              </a:ext>
            </a:extLst>
          </p:cNvPr>
          <p:cNvSpPr txBox="1">
            <a:spLocks/>
          </p:cNvSpPr>
          <p:nvPr/>
        </p:nvSpPr>
        <p:spPr>
          <a:xfrm>
            <a:off x="657922" y="811075"/>
            <a:ext cx="13926386" cy="2114987"/>
          </a:xfrm>
          <a:prstGeom prst="rect">
            <a:avLst/>
          </a:prstGeom>
        </p:spPr>
        <p:txBody>
          <a:bodyPr vert="horz" lIns="109728" tIns="54864" rIns="109728" bIns="54864" rtlCol="0">
            <a:normAutofit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하나의 파드(POD) 안에 같은 종류의 컨테이너를 여러 개 두는 것은 불가능/비권장입니다.</a:t>
            </a:r>
          </a:p>
          <a:p>
            <a:r>
              <a:t>예: 같은 목적의 NGINX 컨테이너 2개를 하나의 파드에서 실행하는 것은 권장되지 않습니다.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B99FB98-CCCE-B144-9E7C-C2E52FC7A3FC}"/>
              </a:ext>
            </a:extLst>
          </p:cNvPr>
          <p:cNvSpPr/>
          <p:nvPr/>
        </p:nvSpPr>
        <p:spPr>
          <a:xfrm>
            <a:off x="5755134" y="5037337"/>
            <a:ext cx="1689904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D3FAB05-08C2-1644-B751-D8171AF85035}"/>
              </a:ext>
            </a:extLst>
          </p:cNvPr>
          <p:cNvSpPr txBox="1"/>
          <p:nvPr/>
        </p:nvSpPr>
        <p:spPr>
          <a:xfrm>
            <a:off x="6231328" y="6322394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49EEB18-17DE-504F-8684-207EFD1E7057}"/>
              </a:ext>
            </a:extLst>
          </p:cNvPr>
          <p:cNvGrpSpPr/>
          <p:nvPr/>
        </p:nvGrpSpPr>
        <p:grpSpPr>
          <a:xfrm>
            <a:off x="6096587" y="5398350"/>
            <a:ext cx="1006998" cy="827590"/>
            <a:chOff x="853440" y="4579716"/>
            <a:chExt cx="1006998" cy="82759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79206D2-50A3-6341-A69E-EC72D7A196A8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EAF052B-F89E-814C-A56B-8956426ACD8B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60109C5-03D2-7941-8CBD-348D859A030A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86A509C-6618-5042-9CA8-FD21171B1977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CA7EB29-2A79-6844-B2F8-6E20577823B9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30FF944-E3F7-1343-A9CA-9CA70A681B4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B4C46DC-A0B1-1F49-8A3B-49F4CF53A3AA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C417BEF4-4387-F848-A993-962DE31DDA73}"/>
              </a:ext>
            </a:extLst>
          </p:cNvPr>
          <p:cNvSpPr/>
          <p:nvPr/>
        </p:nvSpPr>
        <p:spPr>
          <a:xfrm>
            <a:off x="8621827" y="4990970"/>
            <a:ext cx="1689904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F58C66C-0B57-7B49-8A4D-57C23199FD8A}"/>
              </a:ext>
            </a:extLst>
          </p:cNvPr>
          <p:cNvSpPr txBox="1"/>
          <p:nvPr/>
        </p:nvSpPr>
        <p:spPr>
          <a:xfrm>
            <a:off x="9098021" y="6276027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67D5F92-1202-BE41-B731-7F59E3D80059}"/>
              </a:ext>
            </a:extLst>
          </p:cNvPr>
          <p:cNvGrpSpPr/>
          <p:nvPr/>
        </p:nvGrpSpPr>
        <p:grpSpPr>
          <a:xfrm>
            <a:off x="8963280" y="5351983"/>
            <a:ext cx="1006998" cy="827590"/>
            <a:chOff x="853440" y="4579716"/>
            <a:chExt cx="1006998" cy="82759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377B6B3-11DD-654A-AACB-0FEB6DECC5D6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996E2E8-22EF-2D40-8093-C7E6706C1750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51E02C9-BA60-CB43-A58E-2B31C304A21A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88A45FA-6AA1-124B-938B-6BD143F34440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569FF39-B62E-2848-8CE8-C2FB75A687FD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1048B84-C044-E346-9D0C-C32275A489B3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9DC0C41-DE76-1C43-B0A2-77BB0E106E5B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249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0" grpId="0" animBg="1"/>
      <p:bldP spid="85" grpId="0"/>
      <p:bldP spid="142" grpId="0" animBg="1"/>
      <p:bldP spid="143" grpId="0"/>
      <p:bldP spid="184" grpId="0" animBg="1"/>
      <p:bldP spid="185" grpId="0" animBg="1"/>
      <p:bldP spid="186" grpId="0"/>
      <p:bldP spid="204" grpId="0"/>
      <p:bldP spid="80" grpId="0" animBg="1"/>
      <p:bldP spid="81" grpId="0"/>
      <p:bldP spid="91" grpId="0" animBg="1"/>
      <p:bldP spid="9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431606-1E4A-444E-81AB-296A44C1BA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B5910A-CDE4-4027-8243-68233A2C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161" y="-178829"/>
            <a:ext cx="12618720" cy="1188851"/>
          </a:xfrm>
        </p:spPr>
        <p:txBody>
          <a:bodyPr/>
          <a:lstStyle/>
          <a:p>
            <a:r>
              <a:t>쿠버네티스 – 멀티 컨테이너 파드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6C71A-3581-4667-A03E-A9434BC87852}"/>
              </a:ext>
            </a:extLst>
          </p:cNvPr>
          <p:cNvSpPr/>
          <p:nvPr/>
        </p:nvSpPr>
        <p:spPr>
          <a:xfrm>
            <a:off x="8619735" y="1461659"/>
            <a:ext cx="5625296" cy="3234618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96CEB1-D5E2-485E-B4D7-B230B578E8B0}"/>
              </a:ext>
            </a:extLst>
          </p:cNvPr>
          <p:cNvSpPr txBox="1"/>
          <p:nvPr/>
        </p:nvSpPr>
        <p:spPr>
          <a:xfrm>
            <a:off x="3393877" y="5484182"/>
            <a:ext cx="8050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노드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6C7737D-F00E-4501-8814-5A16A7DAC760}"/>
              </a:ext>
            </a:extLst>
          </p:cNvPr>
          <p:cNvSpPr/>
          <p:nvPr/>
        </p:nvSpPr>
        <p:spPr>
          <a:xfrm>
            <a:off x="8874378" y="1716302"/>
            <a:ext cx="5058136" cy="253896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0B21EF-B9D2-4278-9681-0B825503B169}"/>
              </a:ext>
            </a:extLst>
          </p:cNvPr>
          <p:cNvSpPr/>
          <p:nvPr/>
        </p:nvSpPr>
        <p:spPr>
          <a:xfrm>
            <a:off x="9369225" y="2107218"/>
            <a:ext cx="4054003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8321F1-1A42-48F4-BD83-BA3A3A065E1B}"/>
              </a:ext>
            </a:extLst>
          </p:cNvPr>
          <p:cNvSpPr txBox="1"/>
          <p:nvPr/>
        </p:nvSpPr>
        <p:spPr>
          <a:xfrm>
            <a:off x="11030133" y="3350361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DA3F65-ED65-4555-A34B-CB7C5680439E}"/>
              </a:ext>
            </a:extLst>
          </p:cNvPr>
          <p:cNvSpPr txBox="1"/>
          <p:nvPr/>
        </p:nvSpPr>
        <p:spPr>
          <a:xfrm>
            <a:off x="10575481" y="3801998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B7C6295-EA92-47AD-8CA0-D946B96AC601}"/>
              </a:ext>
            </a:extLst>
          </p:cNvPr>
          <p:cNvSpPr txBox="1"/>
          <p:nvPr/>
        </p:nvSpPr>
        <p:spPr>
          <a:xfrm>
            <a:off x="10255169" y="4265389"/>
            <a:ext cx="23544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쿠버네티스 클러스터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43CEF77-5CB6-4B07-A2FA-D46A6DBC7B43}"/>
              </a:ext>
            </a:extLst>
          </p:cNvPr>
          <p:cNvGrpSpPr/>
          <p:nvPr/>
        </p:nvGrpSpPr>
        <p:grpSpPr>
          <a:xfrm>
            <a:off x="9680612" y="2448853"/>
            <a:ext cx="1006998" cy="827590"/>
            <a:chOff x="853440" y="4579716"/>
            <a:chExt cx="1006998" cy="827590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D347FEB-3AD8-4092-890A-2B39E927E772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708C6A7-F180-464C-93B6-B4E1891651BF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148A7C43-1B6C-46A5-B941-3EF31B919206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70ADFDE6-CDE2-4F3D-80A5-AF6C65EC48CB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BD865F3-3121-4B70-A25D-F17CD004AFC3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233E52F9-4B1A-4E39-A778-6FFF0DFE4022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A8234B-B332-49A9-82AB-EF2E3DD80145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26A0D6-9996-423A-B0A9-0F2CB0BDCC31}"/>
              </a:ext>
            </a:extLst>
          </p:cNvPr>
          <p:cNvCxnSpPr>
            <a:cxnSpLocks/>
            <a:stCxn id="103" idx="3"/>
            <a:endCxn id="73" idx="1"/>
          </p:cNvCxnSpPr>
          <p:nvPr/>
        </p:nvCxnSpPr>
        <p:spPr>
          <a:xfrm flipV="1">
            <a:off x="10687610" y="2860068"/>
            <a:ext cx="1324470" cy="2580"/>
          </a:xfrm>
          <a:prstGeom prst="straightConnector1">
            <a:avLst/>
          </a:prstGeom>
          <a:ln w="381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0C5C335-166E-4489-ACDD-5F0DD5D8CD9B}"/>
              </a:ext>
            </a:extLst>
          </p:cNvPr>
          <p:cNvGrpSpPr/>
          <p:nvPr/>
        </p:nvGrpSpPr>
        <p:grpSpPr>
          <a:xfrm>
            <a:off x="12012080" y="2446273"/>
            <a:ext cx="1006998" cy="827590"/>
            <a:chOff x="5318084" y="2957814"/>
            <a:chExt cx="1006998" cy="82759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0FC1473-A0E3-4051-8867-94962616307B}"/>
                </a:ext>
              </a:extLst>
            </p:cNvPr>
            <p:cNvSpPr/>
            <p:nvPr/>
          </p:nvSpPr>
          <p:spPr>
            <a:xfrm>
              <a:off x="5318084" y="2957814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C33E544-DB01-4466-8A4C-9F5A0C9F439C}"/>
                </a:ext>
              </a:extLst>
            </p:cNvPr>
            <p:cNvCxnSpPr>
              <a:cxnSpLocks/>
            </p:cNvCxnSpPr>
            <p:nvPr/>
          </p:nvCxnSpPr>
          <p:spPr>
            <a:xfrm>
              <a:off x="5514854" y="306777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548E477-8DE6-491F-B02D-991D4FAE865D}"/>
                </a:ext>
              </a:extLst>
            </p:cNvPr>
            <p:cNvCxnSpPr>
              <a:cxnSpLocks/>
            </p:cNvCxnSpPr>
            <p:nvPr/>
          </p:nvCxnSpPr>
          <p:spPr>
            <a:xfrm>
              <a:off x="5669183" y="306777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2AB9F90-EBF1-49AF-BED7-FC777EEAB761}"/>
                </a:ext>
              </a:extLst>
            </p:cNvPr>
            <p:cNvCxnSpPr>
              <a:cxnSpLocks/>
            </p:cNvCxnSpPr>
            <p:nvPr/>
          </p:nvCxnSpPr>
          <p:spPr>
            <a:xfrm>
              <a:off x="5821583" y="306777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8386B78-45D9-4F68-948F-2B1BCDED5B12}"/>
                </a:ext>
              </a:extLst>
            </p:cNvPr>
            <p:cNvCxnSpPr>
              <a:cxnSpLocks/>
            </p:cNvCxnSpPr>
            <p:nvPr/>
          </p:nvCxnSpPr>
          <p:spPr>
            <a:xfrm>
              <a:off x="5973983" y="306777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033A842-E4CB-4582-9B64-1D5427658443}"/>
                </a:ext>
              </a:extLst>
            </p:cNvPr>
            <p:cNvCxnSpPr>
              <a:cxnSpLocks/>
            </p:cNvCxnSpPr>
            <p:nvPr/>
          </p:nvCxnSpPr>
          <p:spPr>
            <a:xfrm>
              <a:off x="6126383" y="306777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2B548D-4182-4591-90CD-8DEB4BE55A48}"/>
                </a:ext>
              </a:extLst>
            </p:cNvPr>
            <p:cNvSpPr txBox="1"/>
            <p:nvPr/>
          </p:nvSpPr>
          <p:spPr>
            <a:xfrm>
              <a:off x="5644104" y="3171554"/>
              <a:ext cx="406079" cy="400110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H</a:t>
              </a:r>
            </a:p>
          </p:txBody>
        </p:sp>
      </p:grp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668FEB10-CDC3-4E9E-92EE-C66B55420339}"/>
              </a:ext>
            </a:extLst>
          </p:cNvPr>
          <p:cNvSpPr/>
          <p:nvPr/>
        </p:nvSpPr>
        <p:spPr>
          <a:xfrm rot="10800000">
            <a:off x="12609596" y="5142406"/>
            <a:ext cx="1498092" cy="934207"/>
          </a:xfrm>
          <a:prstGeom prst="wedgeRectCallout">
            <a:avLst>
              <a:gd name="adj1" fmla="val 44463"/>
              <a:gd name="adj2" fmla="val 25695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098B8A-2441-45E9-879E-43770D795AC2}"/>
              </a:ext>
            </a:extLst>
          </p:cNvPr>
          <p:cNvSpPr txBox="1"/>
          <p:nvPr/>
        </p:nvSpPr>
        <p:spPr>
          <a:xfrm>
            <a:off x="12696404" y="5201453"/>
            <a:ext cx="14112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Helper</a:t>
            </a:r>
          </a:p>
          <a:p>
            <a:r>
              <a:t>Containers</a:t>
            </a:r>
          </a:p>
        </p:txBody>
      </p: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AA38688E-2F9B-414A-BC25-32FF7F1C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59" y="1240221"/>
            <a:ext cx="8158278" cy="6348248"/>
          </a:xfrm>
        </p:spPr>
        <p:txBody>
          <a:bodyPr>
            <a:normAutofit fontScale="92500" lnSpcReduction="10000"/>
          </a:bodyPr>
          <a:lstStyle/>
          <a:p>
            <a:r>
              <a:t>하나의 파드(POD) 안에 여러 컨테이너를 넣을 수 있지만, 같은 종류의 컨테이너를 여러 개 넣는 것은 권장되지 않습니다.</a:t>
            </a:r>
          </a:p>
          <a:p>
            <a:r>
              <a:t>헬퍼 컨테이너(사이드카)</a:t>
            </a:r>
          </a:p>
          <a:p>
            <a:r>
              <a:t>- Data Pullers: 메인 컨테이너에 필요한 데이터를 가져옵니다.</a:t>
            </a:r>
          </a:p>
          <a:p>
            <a:r>
              <a:t>- Data Pushers: 메인 컨테이너에서 수집한 데이터(예: 로그)를 외부로 전달합니다.</a:t>
            </a:r>
          </a:p>
          <a:p>
            <a:r>
              <a:t>- Proxies: 헬퍼 컨테이너가 정적 데이터를 HTML 파일로 쓰고, 메인 컨테이너가 이를 읽어 제공할 수 있습니다.</a:t>
            </a:r>
          </a:p>
          <a:p>
            <a:r>
              <a:t>통신</a:t>
            </a:r>
          </a:p>
          <a:p>
            <a:r>
              <a:t>두 컨테이너는 같은 네트워크 네임스페이스를 공유하므로 서로 쉽게 통신할 수 있습니다.</a:t>
            </a:r>
          </a:p>
          <a:p>
            <a:r>
              <a:t>또한 같은 스토리지를 공유하기도 쉽습니다.</a:t>
            </a:r>
          </a:p>
          <a:p>
            <a:r>
              <a:t>멀티 컨테이너 파드는 비교적 드문 사용 사례이며, 여기서는 핵심 기초에 집중합니다.</a:t>
            </a:r>
          </a:p>
        </p:txBody>
      </p:sp>
    </p:spTree>
    <p:extLst>
      <p:ext uri="{BB962C8B-B14F-4D97-AF65-F5344CB8AC3E}">
        <p14:creationId xmlns:p14="http://schemas.microsoft.com/office/powerpoint/2010/main" val="281813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0" grpId="0" animBg="1"/>
      <p:bldP spid="41" grpId="0" animBg="1"/>
      <p:bldP spid="49" grpId="0"/>
      <p:bldP spid="59" grpId="0"/>
      <p:bldP spid="85" grpId="0"/>
      <p:bldP spid="14" grpId="0" animBg="1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09" y="2447710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PODs</a:t>
            </a:r>
          </a:p>
          <a:p>
            <a: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68008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3" y="2899123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서비스s - NodePort</a:t>
            </a:r>
          </a:p>
        </p:txBody>
      </p:sp>
    </p:spTree>
    <p:extLst>
      <p:ext uri="{BB962C8B-B14F-4D97-AF65-F5344CB8AC3E}">
        <p14:creationId xmlns:p14="http://schemas.microsoft.com/office/powerpoint/2010/main" val="2539740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431606-1E4A-444E-81AB-296A44C1BA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B5910A-CDE4-4027-8243-68233A2C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161" y="-178829"/>
            <a:ext cx="12618720" cy="1188851"/>
          </a:xfrm>
        </p:spPr>
        <p:txBody>
          <a:bodyPr/>
          <a:lstStyle/>
          <a:p>
            <a:r>
              <a:t>쿠버네티스 – 서비스 - NodePort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96CEB1-D5E2-485E-B4D7-B230B578E8B0}"/>
              </a:ext>
            </a:extLst>
          </p:cNvPr>
          <p:cNvSpPr txBox="1"/>
          <p:nvPr/>
        </p:nvSpPr>
        <p:spPr>
          <a:xfrm>
            <a:off x="3393877" y="5484182"/>
            <a:ext cx="8050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노드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FD6C19-289A-2A4D-A8A5-0DF0AEDD21A2}"/>
              </a:ext>
            </a:extLst>
          </p:cNvPr>
          <p:cNvSpPr/>
          <p:nvPr/>
        </p:nvSpPr>
        <p:spPr>
          <a:xfrm>
            <a:off x="11142186" y="892450"/>
            <a:ext cx="3225456" cy="6396473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F0C66E-E889-D242-9709-497CDF53320C}"/>
              </a:ext>
            </a:extLst>
          </p:cNvPr>
          <p:cNvSpPr txBox="1"/>
          <p:nvPr/>
        </p:nvSpPr>
        <p:spPr>
          <a:xfrm>
            <a:off x="12427960" y="6469892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D4A700-B380-F941-B8F4-F2E51BBFD2DA}"/>
              </a:ext>
            </a:extLst>
          </p:cNvPr>
          <p:cNvSpPr txBox="1"/>
          <p:nvPr/>
        </p:nvSpPr>
        <p:spPr>
          <a:xfrm>
            <a:off x="11619963" y="6906263"/>
            <a:ext cx="23544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쿠버네티스 클러스터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D21552-B198-7444-89B8-12F621F7BCF0}"/>
              </a:ext>
            </a:extLst>
          </p:cNvPr>
          <p:cNvSpPr txBox="1"/>
          <p:nvPr/>
        </p:nvSpPr>
        <p:spPr>
          <a:xfrm>
            <a:off x="13562613" y="6565152"/>
            <a:ext cx="8050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노드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1E1E6A-79B7-A64F-83E8-01EF9915260E}"/>
              </a:ext>
            </a:extLst>
          </p:cNvPr>
          <p:cNvSpPr txBox="1"/>
          <p:nvPr/>
        </p:nvSpPr>
        <p:spPr>
          <a:xfrm>
            <a:off x="12491967" y="6486727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E7C795D-7767-7146-862B-3D5F6E32811F}"/>
              </a:ext>
            </a:extLst>
          </p:cNvPr>
          <p:cNvSpPr/>
          <p:nvPr/>
        </p:nvSpPr>
        <p:spPr>
          <a:xfrm>
            <a:off x="11509044" y="1214285"/>
            <a:ext cx="2517161" cy="567644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EB8C4D2-A1D9-DC42-82EB-5EF90A4C0C79}"/>
              </a:ext>
            </a:extLst>
          </p:cNvPr>
          <p:cNvSpPr/>
          <p:nvPr/>
        </p:nvSpPr>
        <p:spPr>
          <a:xfrm>
            <a:off x="11923760" y="4793085"/>
            <a:ext cx="1689904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34839F-54A7-944F-95D8-0133941EE2A8}"/>
              </a:ext>
            </a:extLst>
          </p:cNvPr>
          <p:cNvSpPr txBox="1"/>
          <p:nvPr/>
        </p:nvSpPr>
        <p:spPr>
          <a:xfrm>
            <a:off x="12399954" y="6078142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511CE72-1EB0-6942-AB2B-4806592ED87A}"/>
              </a:ext>
            </a:extLst>
          </p:cNvPr>
          <p:cNvGrpSpPr/>
          <p:nvPr/>
        </p:nvGrpSpPr>
        <p:grpSpPr>
          <a:xfrm>
            <a:off x="12265213" y="5154098"/>
            <a:ext cx="1006998" cy="827590"/>
            <a:chOff x="853440" y="4579716"/>
            <a:chExt cx="1006998" cy="82759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543F37C-2344-FE44-AC2E-CDA7F8AF5ED3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35624C9-6FFC-D24A-B739-045474F0FBC2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879388E-C164-1343-9E38-05810D8AF44E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D86FA8E-A283-E44D-9E2C-8A2C7F3A47EE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327E92C-68DB-F848-AC70-351E65184BF6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FA06AB1-64EF-AF44-AD68-223D6AF2F5FC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BB56961-74CD-834E-A819-82B6C3DD3D7C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09D98976-46C4-8D40-8390-7A108E66EE99}"/>
              </a:ext>
            </a:extLst>
          </p:cNvPr>
          <p:cNvSpPr txBox="1"/>
          <p:nvPr/>
        </p:nvSpPr>
        <p:spPr>
          <a:xfrm>
            <a:off x="11940276" y="6509029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8736E3-55E7-D047-A3E5-7BBE788BE618}"/>
              </a:ext>
            </a:extLst>
          </p:cNvPr>
          <p:cNvSpPr/>
          <p:nvPr/>
        </p:nvSpPr>
        <p:spPr>
          <a:xfrm>
            <a:off x="11923760" y="2463501"/>
            <a:ext cx="1689904" cy="189869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EA20C856-4F50-A447-8284-8FDCD28D0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87" y="1240221"/>
            <a:ext cx="9059661" cy="6348248"/>
          </a:xfrm>
        </p:spPr>
        <p:txBody>
          <a:bodyPr>
            <a:normAutofit lnSpcReduction="10000"/>
          </a:bodyPr>
          <a:lstStyle/>
          <a:p>
            <a:r>
              <a:t>파드(POD) 집합에서 실행 중인 애플리케이션은 쿠버네티스의 다양한 서비스(Service) 타입으로 외부/내부에 노출할 수 있습니다.</a:t>
            </a:r>
          </a:p>
          <a:p>
            <a:r>
              <a:t>- ClusterIP</a:t>
            </a:r>
          </a:p>
          <a:p>
            <a:r>
              <a:t>- NodePort</a:t>
            </a:r>
          </a:p>
          <a:p>
            <a:r>
              <a:t>- LoadBalancer</a:t>
            </a:r>
          </a:p>
          <a:p>
            <a:r>
              <a:t>NodePort 서비스</a:t>
            </a:r>
          </a:p>
          <a:p>
            <a:r>
              <a:t>클러스터 밖에서 애플리케이션에 접근하려면 NodePort 서비스를 사용할 수 있습니다.</a:t>
            </a:r>
          </a:p>
          <a:p>
            <a:r>
              <a:t>각 워커 노드의 IP에서 고정 포트(= NodePort)로 서비스를 노출합니다.</a:t>
            </a:r>
          </a:p>
          <a:p>
            <a:r>
              <a:t>NodePort 서비스가 라우팅하는 대상인 ClusterIP 서비스가 자동으로 함께 생성됩니다.</a:t>
            </a:r>
          </a:p>
          <a:p>
            <a:r>
              <a:t>포트 범위: 30000–32767</a:t>
            </a:r>
          </a:p>
          <a:p>
            <a:r>
              <a:t>targetPort: 80</a:t>
            </a:r>
          </a:p>
          <a:p>
            <a:r>
              <a:t>port: 80</a:t>
            </a:r>
          </a:p>
          <a:p>
            <a:r>
              <a:t>접속 예: http://&lt;워커-노드-IP&gt;:&lt;NodePort&gt;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005869E-B830-DD4F-8AFE-28F8896743C6}"/>
              </a:ext>
            </a:extLst>
          </p:cNvPr>
          <p:cNvSpPr/>
          <p:nvPr/>
        </p:nvSpPr>
        <p:spPr>
          <a:xfrm>
            <a:off x="12025815" y="3805739"/>
            <a:ext cx="1449659" cy="417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targetPort</a:t>
            </a:r>
            <a:r>
              <a:rPr lang="en-US" sz="1600" dirty="0">
                <a:solidFill>
                  <a:schemeClr val="tx1"/>
                </a:solidFill>
              </a:rPr>
              <a:t>: 80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C264116-3213-614B-B766-8F8DF2AF9517}"/>
              </a:ext>
            </a:extLst>
          </p:cNvPr>
          <p:cNvSpPr/>
          <p:nvPr/>
        </p:nvSpPr>
        <p:spPr>
          <a:xfrm>
            <a:off x="12025814" y="2550810"/>
            <a:ext cx="1449659" cy="417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포트: 80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A00D3F-EAAD-0C49-A1FF-52C25B681B4D}"/>
              </a:ext>
            </a:extLst>
          </p:cNvPr>
          <p:cNvSpPr txBox="1"/>
          <p:nvPr/>
        </p:nvSpPr>
        <p:spPr>
          <a:xfrm>
            <a:off x="12229560" y="3169984"/>
            <a:ext cx="1006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서비스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080C257-4FD6-D546-80AA-C92B1C68EB45}"/>
              </a:ext>
            </a:extLst>
          </p:cNvPr>
          <p:cNvSpPr/>
          <p:nvPr/>
        </p:nvSpPr>
        <p:spPr>
          <a:xfrm>
            <a:off x="11619963" y="1341119"/>
            <a:ext cx="2256954" cy="417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NodePort</a:t>
            </a:r>
            <a:r>
              <a:rPr lang="en-US" sz="1600" dirty="0">
                <a:solidFill>
                  <a:schemeClr val="tx1"/>
                </a:solidFill>
              </a:rPr>
              <a:t>: 3xxx</a:t>
            </a:r>
          </a:p>
        </p:txBody>
      </p:sp>
      <p:pic>
        <p:nvPicPr>
          <p:cNvPr id="75" name="Graphic 74" descr="User">
            <a:extLst>
              <a:ext uri="{FF2B5EF4-FFF2-40B4-BE49-F238E27FC236}">
                <a16:creationId xmlns:a16="http://schemas.microsoft.com/office/drawing/2014/main" id="{053FCBD3-F120-304F-9C33-5BEAF7F40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380" y="994365"/>
            <a:ext cx="1110539" cy="11105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AB0385-3AEC-3B4E-9901-36434E0E7A1E}"/>
              </a:ext>
            </a:extLst>
          </p:cNvPr>
          <p:cNvSpPr txBox="1"/>
          <p:nvPr/>
        </p:nvSpPr>
        <p:spPr>
          <a:xfrm>
            <a:off x="8612172" y="1866926"/>
            <a:ext cx="7248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사용자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732786-B8BE-BE4C-A8D8-12DE6CD1429C}"/>
              </a:ext>
            </a:extLst>
          </p:cNvPr>
          <p:cNvCxnSpPr>
            <a:stCxn id="75" idx="3"/>
            <a:endCxn id="71" idx="1"/>
          </p:cNvCxnSpPr>
          <p:nvPr/>
        </p:nvCxnSpPr>
        <p:spPr>
          <a:xfrm>
            <a:off x="9520919" y="1549635"/>
            <a:ext cx="2099044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B361DFF-63A5-E642-8B2F-ECD15561A94F}"/>
              </a:ext>
            </a:extLst>
          </p:cNvPr>
          <p:cNvCxnSpPr>
            <a:stCxn id="71" idx="2"/>
            <a:endCxn id="9" idx="0"/>
          </p:cNvCxnSpPr>
          <p:nvPr/>
        </p:nvCxnSpPr>
        <p:spPr>
          <a:xfrm>
            <a:off x="12748440" y="1758151"/>
            <a:ext cx="20272" cy="70535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AB1F4E3-A83E-E043-A0D6-29CA35EF710C}"/>
              </a:ext>
            </a:extLst>
          </p:cNvPr>
          <p:cNvCxnSpPr>
            <a:stCxn id="9" idx="2"/>
            <a:endCxn id="52" idx="0"/>
          </p:cNvCxnSpPr>
          <p:nvPr/>
        </p:nvCxnSpPr>
        <p:spPr>
          <a:xfrm>
            <a:off x="12768712" y="4362198"/>
            <a:ext cx="0" cy="43088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ular Callout 23">
            <a:extLst>
              <a:ext uri="{FF2B5EF4-FFF2-40B4-BE49-F238E27FC236}">
                <a16:creationId xmlns:a16="http://schemas.microsoft.com/office/drawing/2014/main" id="{FD949922-2938-0A4C-A908-B431E498D014}"/>
              </a:ext>
            </a:extLst>
          </p:cNvPr>
          <p:cNvSpPr/>
          <p:nvPr/>
        </p:nvSpPr>
        <p:spPr>
          <a:xfrm>
            <a:off x="7515923" y="2642839"/>
            <a:ext cx="2062976" cy="527145"/>
          </a:xfrm>
          <a:prstGeom prst="wedgeRectCallout">
            <a:avLst>
              <a:gd name="adj1" fmla="val 168163"/>
              <a:gd name="adj2" fmla="val -252695"/>
            </a:avLst>
          </a:prstGeom>
          <a:solidFill>
            <a:schemeClr val="bg1">
              <a:lumMod val="5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워커 노드 NodePort</a:t>
            </a:r>
          </a:p>
        </p:txBody>
      </p:sp>
      <p:sp>
        <p:nvSpPr>
          <p:cNvPr id="83" name="Rectangular Callout 82">
            <a:extLst>
              <a:ext uri="{FF2B5EF4-FFF2-40B4-BE49-F238E27FC236}">
                <a16:creationId xmlns:a16="http://schemas.microsoft.com/office/drawing/2014/main" id="{065645B4-277C-2E46-A31B-2012BA58279B}"/>
              </a:ext>
            </a:extLst>
          </p:cNvPr>
          <p:cNvSpPr/>
          <p:nvPr/>
        </p:nvSpPr>
        <p:spPr>
          <a:xfrm>
            <a:off x="7540348" y="3385427"/>
            <a:ext cx="2062976" cy="527145"/>
          </a:xfrm>
          <a:prstGeom prst="wedgeRectCallout">
            <a:avLst>
              <a:gd name="adj1" fmla="val 178085"/>
              <a:gd name="adj2" fmla="val -163848"/>
            </a:avLst>
          </a:prstGeom>
          <a:solidFill>
            <a:schemeClr val="bg1">
              <a:lumMod val="5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클러스터IP 서비스 Port</a:t>
            </a:r>
          </a:p>
        </p:txBody>
      </p:sp>
      <p:sp>
        <p:nvSpPr>
          <p:cNvPr id="86" name="Rectangular Callout 85">
            <a:extLst>
              <a:ext uri="{FF2B5EF4-FFF2-40B4-BE49-F238E27FC236}">
                <a16:creationId xmlns:a16="http://schemas.microsoft.com/office/drawing/2014/main" id="{AFB64851-55BA-BB4B-9A38-3797045E40AE}"/>
              </a:ext>
            </a:extLst>
          </p:cNvPr>
          <p:cNvSpPr/>
          <p:nvPr/>
        </p:nvSpPr>
        <p:spPr>
          <a:xfrm>
            <a:off x="7515923" y="4026045"/>
            <a:ext cx="2062976" cy="527145"/>
          </a:xfrm>
          <a:prstGeom prst="wedgeRectCallout">
            <a:avLst>
              <a:gd name="adj1" fmla="val 173761"/>
              <a:gd name="adj2" fmla="val -45386"/>
            </a:avLst>
          </a:prstGeom>
          <a:solidFill>
            <a:schemeClr val="bg1">
              <a:lumMod val="5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파드 내 컨테이너 포트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D249D4-6279-C543-9DA1-4D33ABF3EBBA}"/>
              </a:ext>
            </a:extLst>
          </p:cNvPr>
          <p:cNvSpPr txBox="1"/>
          <p:nvPr/>
        </p:nvSpPr>
        <p:spPr>
          <a:xfrm>
            <a:off x="9129516" y="1225986"/>
            <a:ext cx="2560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http://&lt;Worker-Node-IP&gt;:&lt;</a:t>
            </a:r>
            <a:r>
              <a:rPr lang="en-US" sz="1200" dirty="0" err="1"/>
              <a:t>NodePort</a:t>
            </a:r>
            <a:r>
              <a:rPr lang="en-US" sz="12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12109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/>
      <p:bldP spid="51" grpId="0" animBg="1"/>
      <p:bldP spid="52" grpId="0" animBg="1"/>
      <p:bldP spid="53" grpId="0"/>
      <p:bldP spid="63" grpId="0"/>
      <p:bldP spid="9" grpId="0" animBg="1"/>
      <p:bldP spid="68" grpId="0" animBg="1"/>
      <p:bldP spid="69" grpId="0" animBg="1"/>
      <p:bldP spid="12" grpId="0"/>
      <p:bldP spid="71" grpId="0" animBg="1"/>
      <p:bldP spid="13" grpId="0"/>
      <p:bldP spid="24" grpId="0" animBg="1"/>
      <p:bldP spid="83" grpId="0" animBg="1"/>
      <p:bldP spid="86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09" y="2302744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파드(Pod) &amp; NodePort 서비스</a:t>
            </a:r>
          </a:p>
          <a:p>
            <a:r>
              <a:t>데모</a:t>
            </a:r>
          </a:p>
        </p:txBody>
      </p:sp>
    </p:spTree>
    <p:extLst>
      <p:ext uri="{BB962C8B-B14F-4D97-AF65-F5344CB8AC3E}">
        <p14:creationId xmlns:p14="http://schemas.microsoft.com/office/powerpoint/2010/main" val="1672990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3" y="2899123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레플리카셋(레플리카셋(ReplicaSet))</a:t>
            </a:r>
          </a:p>
        </p:txBody>
      </p:sp>
    </p:spTree>
    <p:extLst>
      <p:ext uri="{BB962C8B-B14F-4D97-AF65-F5344CB8AC3E}">
        <p14:creationId xmlns:p14="http://schemas.microsoft.com/office/powerpoint/2010/main" val="1888365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AAFAE5-8F4F-3740-9CD1-71D114F607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9EEEA5-1B1F-E149-A69E-C5BF33B45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35843"/>
            <a:ext cx="12618720" cy="1188851"/>
          </a:xfrm>
        </p:spPr>
        <p:txBody>
          <a:bodyPr/>
          <a:lstStyle/>
          <a:p>
            <a:r>
              <a:t>쿠버네티스 - 레플리카셋(레플리카셋(ReplicaSet))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DC95F2-1264-3A4A-8B49-5E4B481893E8}"/>
              </a:ext>
            </a:extLst>
          </p:cNvPr>
          <p:cNvSpPr/>
          <p:nvPr/>
        </p:nvSpPr>
        <p:spPr>
          <a:xfrm>
            <a:off x="2902931" y="3771106"/>
            <a:ext cx="2372810" cy="63660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레플리카셋(레플리카셋(ReplicaSet))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9DAF99-7510-3348-A94B-A131728A34DE}"/>
              </a:ext>
            </a:extLst>
          </p:cNvPr>
          <p:cNvSpPr/>
          <p:nvPr/>
        </p:nvSpPr>
        <p:spPr>
          <a:xfrm>
            <a:off x="7444452" y="1702140"/>
            <a:ext cx="3516774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고가용성(HA) 또는 신뢰성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5ED618-2EA7-384D-BB31-9FC3890E0DA9}"/>
              </a:ext>
            </a:extLst>
          </p:cNvPr>
          <p:cNvSpPr/>
          <p:nvPr/>
        </p:nvSpPr>
        <p:spPr>
          <a:xfrm>
            <a:off x="7444452" y="3072938"/>
            <a:ext cx="3516774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스케일링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D5BB22-B7EB-E043-A223-A294D38F72C3}"/>
              </a:ext>
            </a:extLst>
          </p:cNvPr>
          <p:cNvSpPr/>
          <p:nvPr/>
        </p:nvSpPr>
        <p:spPr>
          <a:xfrm>
            <a:off x="7444452" y="4383770"/>
            <a:ext cx="3516774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로드 밸런싱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373784-5E2D-5B4C-831A-EE8E759D939F}"/>
              </a:ext>
            </a:extLst>
          </p:cNvPr>
          <p:cNvSpPr/>
          <p:nvPr/>
        </p:nvSpPr>
        <p:spPr>
          <a:xfrm>
            <a:off x="7444452" y="5760892"/>
            <a:ext cx="3516774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라벨(Labels) &amp; 셀렉터(Selectors)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A1F18C-0760-1143-A2B5-B145B68CB43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275741" y="2020444"/>
            <a:ext cx="2168711" cy="2068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2A17D7-8BBA-154A-9788-34A1BD58DB34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5275741" y="3391242"/>
            <a:ext cx="2168711" cy="698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311CE9-0026-CB49-BF8E-350AA86832B1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5275741" y="4089410"/>
            <a:ext cx="2168711" cy="612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5108E17-D8E3-B747-A3B0-D9716B9E0747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5275741" y="4089410"/>
            <a:ext cx="2168711" cy="1989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76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F4EEF7-593A-4845-ABF0-7B5C289046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1F515-7102-4005-8287-358EFD075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54" y="1225743"/>
            <a:ext cx="7279753" cy="1722377"/>
          </a:xfrm>
        </p:spPr>
        <p:txBody>
          <a:bodyPr>
            <a:normAutofit/>
          </a:bodyPr>
          <a:lstStyle/>
          <a:p>
            <a:r>
              <a:t>ReplicaSet의 목적은 특정 시점에 지정한 개수만큼 파드 레플리카가 항상 실행되도록 유지하는 것입니다.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FDA6FC-0297-40C6-B640-7185791F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36892"/>
            <a:ext cx="12618720" cy="1188851"/>
          </a:xfrm>
        </p:spPr>
        <p:txBody>
          <a:bodyPr/>
          <a:lstStyle/>
          <a:p>
            <a:r>
              <a:t>쿠버네티스 – 레플리카셋(레플리카셋(ReplicaSet))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1628E-F83C-46FE-A304-5FD4585D9599}"/>
              </a:ext>
            </a:extLst>
          </p:cNvPr>
          <p:cNvSpPr/>
          <p:nvPr/>
        </p:nvSpPr>
        <p:spPr>
          <a:xfrm>
            <a:off x="3675323" y="3261861"/>
            <a:ext cx="7279754" cy="4035822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514D90-0924-479B-B559-FC251056322A}"/>
              </a:ext>
            </a:extLst>
          </p:cNvPr>
          <p:cNvSpPr/>
          <p:nvPr/>
        </p:nvSpPr>
        <p:spPr>
          <a:xfrm>
            <a:off x="3860518" y="3622460"/>
            <a:ext cx="6933236" cy="32468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F3B33-459A-422B-94BA-105B0AA1C8DD}"/>
              </a:ext>
            </a:extLst>
          </p:cNvPr>
          <p:cNvSpPr txBox="1"/>
          <p:nvPr/>
        </p:nvSpPr>
        <p:spPr>
          <a:xfrm>
            <a:off x="6521179" y="6470806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DA933F-7519-48BD-AA0F-619D6585DBBD}"/>
              </a:ext>
            </a:extLst>
          </p:cNvPr>
          <p:cNvSpPr txBox="1"/>
          <p:nvPr/>
        </p:nvSpPr>
        <p:spPr>
          <a:xfrm>
            <a:off x="6137986" y="6914330"/>
            <a:ext cx="23544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쿠버네티스 클러스터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0C319B-471B-144E-932D-0A9F0B5483D9}"/>
              </a:ext>
            </a:extLst>
          </p:cNvPr>
          <p:cNvSpPr/>
          <p:nvPr/>
        </p:nvSpPr>
        <p:spPr>
          <a:xfrm>
            <a:off x="4196184" y="3992849"/>
            <a:ext cx="6281099" cy="2445531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4B3430-0E60-0A4C-9943-836C47E17E6B}"/>
              </a:ext>
            </a:extLst>
          </p:cNvPr>
          <p:cNvSpPr/>
          <p:nvPr/>
        </p:nvSpPr>
        <p:spPr>
          <a:xfrm>
            <a:off x="4586155" y="4339145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45D659-E2B6-2F45-8035-89981F0F966D}"/>
              </a:ext>
            </a:extLst>
          </p:cNvPr>
          <p:cNvSpPr txBox="1"/>
          <p:nvPr/>
        </p:nvSpPr>
        <p:spPr>
          <a:xfrm>
            <a:off x="5094311" y="5603439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5F1A018-28D9-D048-972A-BED631C4ED96}"/>
              </a:ext>
            </a:extLst>
          </p:cNvPr>
          <p:cNvGrpSpPr/>
          <p:nvPr/>
        </p:nvGrpSpPr>
        <p:grpSpPr>
          <a:xfrm>
            <a:off x="4897541" y="4680780"/>
            <a:ext cx="1006998" cy="827590"/>
            <a:chOff x="853440" y="4579716"/>
            <a:chExt cx="1006998" cy="82759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1BADFE1-FFD2-A141-A7FC-ED8913148053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F0F18C4-AED4-E542-9E67-AB67036BC49B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C020A8A-76C4-2E42-8A05-AB59076BE371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3AC1F80-4A5E-A54B-9BEA-7066D0B546F5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B1755BE-E034-A541-958C-BDE33954AB70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1BA34D-2FA7-4945-B528-5780F0B2E883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B308547-3D7A-CB49-BAB1-4260C3EAA599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47FA394A-4E66-B943-B9E2-4BF5ABE63819}"/>
              </a:ext>
            </a:extLst>
          </p:cNvPr>
          <p:cNvSpPr/>
          <p:nvPr/>
        </p:nvSpPr>
        <p:spPr>
          <a:xfrm>
            <a:off x="6501483" y="4349655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C4B6B2-6922-1F44-9C32-FD62DCB5128E}"/>
              </a:ext>
            </a:extLst>
          </p:cNvPr>
          <p:cNvSpPr txBox="1"/>
          <p:nvPr/>
        </p:nvSpPr>
        <p:spPr>
          <a:xfrm>
            <a:off x="7009639" y="5613949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9170897-38E4-3C48-B5D9-8C4031EC8FA8}"/>
              </a:ext>
            </a:extLst>
          </p:cNvPr>
          <p:cNvGrpSpPr/>
          <p:nvPr/>
        </p:nvGrpSpPr>
        <p:grpSpPr>
          <a:xfrm>
            <a:off x="6812869" y="4691290"/>
            <a:ext cx="1006998" cy="827590"/>
            <a:chOff x="853440" y="4579716"/>
            <a:chExt cx="1006998" cy="82759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18F4F0B-7EC3-1849-8861-F2032CFDE4C8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DE085A5-F39B-6847-AF59-3C49B6F2279B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5F1286C-1941-964D-8577-B48149331C0A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59340CB-3CD4-CE49-AAB7-F292D8E8095F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74E97A6-DB47-664F-894A-228DA576BB3A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2F0FC15-2866-6B49-ACC4-52251A621FD7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766FC44-D3C8-6644-B0DB-49E92FC9B146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300A229-DB5D-C442-BEB2-6A79F8122EE8}"/>
              </a:ext>
            </a:extLst>
          </p:cNvPr>
          <p:cNvSpPr txBox="1"/>
          <p:nvPr/>
        </p:nvSpPr>
        <p:spPr>
          <a:xfrm>
            <a:off x="6654110" y="6018114"/>
            <a:ext cx="13652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레플리카셋(ReplicaSet)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35696F-6566-1844-981F-8A0AC33855EE}"/>
              </a:ext>
            </a:extLst>
          </p:cNvPr>
          <p:cNvSpPr/>
          <p:nvPr/>
        </p:nvSpPr>
        <p:spPr>
          <a:xfrm>
            <a:off x="8424935" y="4339145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015E212-17E1-264D-AB18-4F03F81D0A4F}"/>
              </a:ext>
            </a:extLst>
          </p:cNvPr>
          <p:cNvSpPr txBox="1"/>
          <p:nvPr/>
        </p:nvSpPr>
        <p:spPr>
          <a:xfrm>
            <a:off x="8933091" y="5603439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54266CB-DBC3-3245-B634-EACD1BFC7914}"/>
              </a:ext>
            </a:extLst>
          </p:cNvPr>
          <p:cNvGrpSpPr/>
          <p:nvPr/>
        </p:nvGrpSpPr>
        <p:grpSpPr>
          <a:xfrm>
            <a:off x="8736321" y="4680780"/>
            <a:ext cx="1006998" cy="827590"/>
            <a:chOff x="853440" y="4579716"/>
            <a:chExt cx="1006998" cy="82759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A3BFEDF-E919-6345-B06F-1F825F2772C2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64FD3CA-A176-BF4F-9BFF-899AB73DC559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63231B0-177F-014D-B104-F9643B804DCC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7870448-A768-AD4C-9AE8-CDC7835C407E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3ADEF82-F61F-6B4D-8765-089143185C25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CF54102-526E-C944-BA57-7BBF32FFCD22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A939C36-B483-514B-A36B-F89EAC4485E0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FE093700-4D10-B54B-8423-6E9F5CB0A8A7}"/>
              </a:ext>
            </a:extLst>
          </p:cNvPr>
          <p:cNvSpPr txBox="1">
            <a:spLocks/>
          </p:cNvSpPr>
          <p:nvPr/>
        </p:nvSpPr>
        <p:spPr>
          <a:xfrm>
            <a:off x="7277023" y="1227452"/>
            <a:ext cx="7279753" cy="1722377"/>
          </a:xfrm>
          <a:prstGeom prst="rect">
            <a:avLst/>
          </a:prstGeom>
        </p:spPr>
        <p:txBody>
          <a:bodyPr vert="horz" lIns="109728" tIns="54864" rIns="109728" bIns="54864" rtlCol="0">
            <a:normAutofit fontScale="85000" lnSpcReduction="10000"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애플리케이션이 크래시(파드가 종료)되면 ReplicaSet이 즉시 파드를 다시 생성하여,</a:t>
            </a:r>
          </a:p>
          <a:p>
            <a:r>
              <a:t>항상 설정된 개수의 파드가 실행되도록 보장합니다.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98DFDC-EFBD-6E45-A6DB-F425E82E1368}"/>
              </a:ext>
            </a:extLst>
          </p:cNvPr>
          <p:cNvSpPr/>
          <p:nvPr/>
        </p:nvSpPr>
        <p:spPr>
          <a:xfrm>
            <a:off x="219016" y="3891572"/>
            <a:ext cx="3193763" cy="17223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Reliability</a:t>
            </a:r>
          </a:p>
          <a:p>
            <a:r>
              <a:t>Or</a:t>
            </a:r>
          </a:p>
          <a:p>
            <a:r>
              <a:t>High Availability</a:t>
            </a:r>
          </a:p>
        </p:txBody>
      </p:sp>
    </p:spTree>
    <p:extLst>
      <p:ext uri="{BB962C8B-B14F-4D97-AF65-F5344CB8AC3E}">
        <p14:creationId xmlns:p14="http://schemas.microsoft.com/office/powerpoint/2010/main" val="363615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63627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0" grpId="0"/>
      <p:bldP spid="19" grpId="0" animBg="1"/>
      <p:bldP spid="40" grpId="0" animBg="1"/>
      <p:bldP spid="41" grpId="0"/>
      <p:bldP spid="50" grpId="0" animBg="1"/>
      <p:bldP spid="51" grpId="0"/>
      <p:bldP spid="61" grpId="0"/>
      <p:bldP spid="62" grpId="0" animBg="1"/>
      <p:bldP spid="63" grpId="0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F4EEF7-593A-4845-ABF0-7B5C289046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FDA6FC-0297-40C6-B640-7185791F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27" y="-228336"/>
            <a:ext cx="12618720" cy="1188851"/>
          </a:xfrm>
        </p:spPr>
        <p:txBody>
          <a:bodyPr/>
          <a:lstStyle/>
          <a:p>
            <a:r>
              <a:t>쿠버네티스 – 레플리카셋(레플리카셋(ReplicaSet))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1628E-F83C-46FE-A304-5FD4585D9599}"/>
              </a:ext>
            </a:extLst>
          </p:cNvPr>
          <p:cNvSpPr/>
          <p:nvPr/>
        </p:nvSpPr>
        <p:spPr>
          <a:xfrm>
            <a:off x="5395353" y="2199627"/>
            <a:ext cx="9179228" cy="497631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514D90-0924-479B-B559-FC251056322A}"/>
              </a:ext>
            </a:extLst>
          </p:cNvPr>
          <p:cNvSpPr/>
          <p:nvPr/>
        </p:nvSpPr>
        <p:spPr>
          <a:xfrm>
            <a:off x="5608298" y="2430684"/>
            <a:ext cx="4174235" cy="430730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F3B33-459A-422B-94BA-105B0AA1C8DD}"/>
              </a:ext>
            </a:extLst>
          </p:cNvPr>
          <p:cNvSpPr txBox="1"/>
          <p:nvPr/>
        </p:nvSpPr>
        <p:spPr>
          <a:xfrm>
            <a:off x="7103500" y="6307098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DA933F-7519-48BD-AA0F-619D6585DBBD}"/>
              </a:ext>
            </a:extLst>
          </p:cNvPr>
          <p:cNvSpPr txBox="1"/>
          <p:nvPr/>
        </p:nvSpPr>
        <p:spPr>
          <a:xfrm>
            <a:off x="8608076" y="6745055"/>
            <a:ext cx="23544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쿠버네티스 클러스터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3EAA96D-ED30-4B80-B7A6-1FB91213A236}"/>
              </a:ext>
            </a:extLst>
          </p:cNvPr>
          <p:cNvSpPr/>
          <p:nvPr/>
        </p:nvSpPr>
        <p:spPr>
          <a:xfrm>
            <a:off x="10089146" y="2430684"/>
            <a:ext cx="4174235" cy="430730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3564AA-69CD-42F9-A6E0-EF6F55E2DDA3}"/>
              </a:ext>
            </a:extLst>
          </p:cNvPr>
          <p:cNvSpPr txBox="1"/>
          <p:nvPr/>
        </p:nvSpPr>
        <p:spPr>
          <a:xfrm>
            <a:off x="11534499" y="6329071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7C2AB-FF93-44FE-A2D1-80ACA59D2430}"/>
              </a:ext>
            </a:extLst>
          </p:cNvPr>
          <p:cNvSpPr/>
          <p:nvPr/>
        </p:nvSpPr>
        <p:spPr>
          <a:xfrm>
            <a:off x="5828901" y="3697457"/>
            <a:ext cx="8285967" cy="247566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6744B2-BE71-4562-AE41-0A2EE2B37E75}"/>
              </a:ext>
            </a:extLst>
          </p:cNvPr>
          <p:cNvSpPr/>
          <p:nvPr/>
        </p:nvSpPr>
        <p:spPr>
          <a:xfrm>
            <a:off x="6054603" y="4012205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3B821E-5C16-4248-B06A-F2CEE2030D4B}"/>
              </a:ext>
            </a:extLst>
          </p:cNvPr>
          <p:cNvSpPr txBox="1"/>
          <p:nvPr/>
        </p:nvSpPr>
        <p:spPr>
          <a:xfrm>
            <a:off x="6562759" y="5276499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2281A72-9AB8-4D92-AB37-755A610922D3}"/>
              </a:ext>
            </a:extLst>
          </p:cNvPr>
          <p:cNvGrpSpPr/>
          <p:nvPr/>
        </p:nvGrpSpPr>
        <p:grpSpPr>
          <a:xfrm>
            <a:off x="6365989" y="4353840"/>
            <a:ext cx="1006998" cy="827590"/>
            <a:chOff x="853440" y="4579716"/>
            <a:chExt cx="1006998" cy="82759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35F23C2-A309-48C4-A509-70C14CEC180C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1C22650-4D77-4736-A479-979A1FF3F8BD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7B32F0D-4278-4A5F-9F85-37A874D5866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AE47964-91AF-4BEB-A542-15208CA0CF5B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E8570B6-B6DB-49AD-8C64-912E3A36B4BD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9C2FE03-322D-4F17-BB6A-0BF2222A5313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FB77D69-63B0-49BC-B2BF-891D23D13D8B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4893580D-20BD-474D-8094-CFDC8ECB81A0}"/>
              </a:ext>
            </a:extLst>
          </p:cNvPr>
          <p:cNvSpPr/>
          <p:nvPr/>
        </p:nvSpPr>
        <p:spPr>
          <a:xfrm>
            <a:off x="7969931" y="4022715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14E30C-5306-45A6-8C30-8C24C1C858BF}"/>
              </a:ext>
            </a:extLst>
          </p:cNvPr>
          <p:cNvSpPr txBox="1"/>
          <p:nvPr/>
        </p:nvSpPr>
        <p:spPr>
          <a:xfrm>
            <a:off x="8478087" y="5287009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82C700F-DAFF-49D4-9EC5-A0F0F9D13345}"/>
              </a:ext>
            </a:extLst>
          </p:cNvPr>
          <p:cNvGrpSpPr/>
          <p:nvPr/>
        </p:nvGrpSpPr>
        <p:grpSpPr>
          <a:xfrm>
            <a:off x="8281317" y="4364350"/>
            <a:ext cx="1006998" cy="827590"/>
            <a:chOff x="853440" y="4579716"/>
            <a:chExt cx="1006998" cy="82759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8674A2D-3A28-4601-8FC7-A3D43E52D485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2252C1E-B9D3-4960-A8F6-08C428156BA1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D44087C-6889-4A31-9935-69E1263C16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62B8F28-2B0F-4FB6-AFDB-F985E5CA547B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13C980F-DF8B-40CF-8377-D2B0FBC9C47C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B5A8355-740C-4AFF-9BE2-DAE992CBEC13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1886655-CA62-46B6-99B8-27557DBDD471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2E735263-AC2D-4E3A-BAB4-31E39A36AE9E}"/>
              </a:ext>
            </a:extLst>
          </p:cNvPr>
          <p:cNvSpPr/>
          <p:nvPr/>
        </p:nvSpPr>
        <p:spPr>
          <a:xfrm>
            <a:off x="10384977" y="3996100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5DBD057-D289-4BA1-8CB5-275EFA516CF7}"/>
              </a:ext>
            </a:extLst>
          </p:cNvPr>
          <p:cNvSpPr txBox="1"/>
          <p:nvPr/>
        </p:nvSpPr>
        <p:spPr>
          <a:xfrm>
            <a:off x="10893133" y="5260394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3CC605D-0215-43F9-8ADA-CB35528CA354}"/>
              </a:ext>
            </a:extLst>
          </p:cNvPr>
          <p:cNvGrpSpPr/>
          <p:nvPr/>
        </p:nvGrpSpPr>
        <p:grpSpPr>
          <a:xfrm>
            <a:off x="10696363" y="4337735"/>
            <a:ext cx="1006998" cy="827590"/>
            <a:chOff x="853440" y="4579716"/>
            <a:chExt cx="1006998" cy="82759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092E8A8-2ECC-4D7C-BC4D-6D7CB763AA0E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5DCA9C4-62A7-4C27-8356-1DFB1D8388AC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398F970-4660-45E7-B746-9CE08BCF910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1F74877-BBBB-423D-95A2-35D85499F35D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257629F-5252-40F1-BB2F-72A7D185B778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F50B40-CCB7-49E8-9C49-42425696126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4EA6129-3E2F-41E6-BF7D-34EB3DDFC42F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E1D6CC2-2A0A-4CEC-B3CF-85F223DEDDC2}"/>
              </a:ext>
            </a:extLst>
          </p:cNvPr>
          <p:cNvSpPr/>
          <p:nvPr/>
        </p:nvSpPr>
        <p:spPr>
          <a:xfrm>
            <a:off x="12300305" y="3965175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0C7D59C-4785-448B-BF27-93434E598004}"/>
              </a:ext>
            </a:extLst>
          </p:cNvPr>
          <p:cNvSpPr txBox="1"/>
          <p:nvPr/>
        </p:nvSpPr>
        <p:spPr>
          <a:xfrm>
            <a:off x="12808461" y="5229469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79A2CEF-77C4-4CE3-A141-8E4771AEEFAC}"/>
              </a:ext>
            </a:extLst>
          </p:cNvPr>
          <p:cNvGrpSpPr/>
          <p:nvPr/>
        </p:nvGrpSpPr>
        <p:grpSpPr>
          <a:xfrm>
            <a:off x="12611691" y="4306810"/>
            <a:ext cx="1006998" cy="827590"/>
            <a:chOff x="853440" y="4579716"/>
            <a:chExt cx="1006998" cy="82759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2A7AAF0-CCDA-4EFE-B87C-5210618FF683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2D5F09CC-F018-4F00-A580-F2B8892F780E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B3ADEA2-BE3E-4318-BD2F-CA5EDA50E1F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7D0D2D9-AA60-4D54-8A0A-2C28E6BA1DF7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618A8A70-8BAB-47F3-9AF3-F1B0477406FE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FA16AF0-7382-4740-8D8B-D54047F83287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01F9814-9B4B-4321-9E25-9C45DBE6BBF3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3863E61-9F55-4F49-B000-4CEA81FDFF45}"/>
              </a:ext>
            </a:extLst>
          </p:cNvPr>
          <p:cNvSpPr txBox="1"/>
          <p:nvPr/>
        </p:nvSpPr>
        <p:spPr>
          <a:xfrm>
            <a:off x="9427872" y="5737255"/>
            <a:ext cx="13652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레플리카셋(ReplicaSet)</a:t>
            </a:r>
          </a:p>
        </p:txBody>
      </p:sp>
      <p:pic>
        <p:nvPicPr>
          <p:cNvPr id="55" name="Graphic 54" descr="User">
            <a:extLst>
              <a:ext uri="{FF2B5EF4-FFF2-40B4-BE49-F238E27FC236}">
                <a16:creationId xmlns:a16="http://schemas.microsoft.com/office/drawing/2014/main" id="{7FE31E42-9473-A146-A5FF-3BFF62AF8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7411" y="714996"/>
            <a:ext cx="914400" cy="914400"/>
          </a:xfrm>
          <a:prstGeom prst="rect">
            <a:avLst/>
          </a:prstGeom>
        </p:spPr>
      </p:pic>
      <p:pic>
        <p:nvPicPr>
          <p:cNvPr id="56" name="Graphic 55" descr="User">
            <a:extLst>
              <a:ext uri="{FF2B5EF4-FFF2-40B4-BE49-F238E27FC236}">
                <a16:creationId xmlns:a16="http://schemas.microsoft.com/office/drawing/2014/main" id="{99065ED7-9DCA-BD41-AC86-D95E811E8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3394" y="714996"/>
            <a:ext cx="914400" cy="914400"/>
          </a:xfrm>
          <a:prstGeom prst="rect">
            <a:avLst/>
          </a:prstGeom>
        </p:spPr>
      </p:pic>
      <p:pic>
        <p:nvPicPr>
          <p:cNvPr id="58" name="Graphic 57" descr="User">
            <a:extLst>
              <a:ext uri="{FF2B5EF4-FFF2-40B4-BE49-F238E27FC236}">
                <a16:creationId xmlns:a16="http://schemas.microsoft.com/office/drawing/2014/main" id="{F58CEACF-1084-A849-8870-4A9B602D8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9539" y="705029"/>
            <a:ext cx="914400" cy="9144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068D767-0626-1C44-93F4-2A22C06D9137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6054611" y="1629396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618D84C-950C-2447-9EF8-C5507306BFE7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7200594" y="1629396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3B86D77-96AA-EF46-87CB-BEDA9636CF8C}"/>
              </a:ext>
            </a:extLst>
          </p:cNvPr>
          <p:cNvCxnSpPr>
            <a:cxnSpLocks/>
          </p:cNvCxnSpPr>
          <p:nvPr/>
        </p:nvCxnSpPr>
        <p:spPr>
          <a:xfrm>
            <a:off x="8312990" y="1632646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User">
            <a:extLst>
              <a:ext uri="{FF2B5EF4-FFF2-40B4-BE49-F238E27FC236}">
                <a16:creationId xmlns:a16="http://schemas.microsoft.com/office/drawing/2014/main" id="{31CFCCEA-3639-3846-B7DA-818FC9A39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4512" y="703082"/>
            <a:ext cx="914400" cy="914400"/>
          </a:xfrm>
          <a:prstGeom prst="rect">
            <a:avLst/>
          </a:prstGeom>
        </p:spPr>
      </p:pic>
      <p:pic>
        <p:nvPicPr>
          <p:cNvPr id="63" name="Graphic 62" descr="User">
            <a:extLst>
              <a:ext uri="{FF2B5EF4-FFF2-40B4-BE49-F238E27FC236}">
                <a16:creationId xmlns:a16="http://schemas.microsoft.com/office/drawing/2014/main" id="{6807737B-28DF-434C-B757-DF12BCBED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495" y="703082"/>
            <a:ext cx="914400" cy="914400"/>
          </a:xfrm>
          <a:prstGeom prst="rect">
            <a:avLst/>
          </a:prstGeom>
        </p:spPr>
      </p:pic>
      <p:pic>
        <p:nvPicPr>
          <p:cNvPr id="74" name="Graphic 73" descr="User">
            <a:extLst>
              <a:ext uri="{FF2B5EF4-FFF2-40B4-BE49-F238E27FC236}">
                <a16:creationId xmlns:a16="http://schemas.microsoft.com/office/drawing/2014/main" id="{B0CEB636-0BEB-DA4A-A158-A097F10D6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6640" y="693115"/>
            <a:ext cx="914400" cy="914400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508FE28-B22D-CB45-9470-616724AB7E5E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9421712" y="1617482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9215BBF-91C8-F745-A685-6EAED158706C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10567695" y="1617482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524EE3-14E2-FD41-A0C1-CFDA113C54FF}"/>
              </a:ext>
            </a:extLst>
          </p:cNvPr>
          <p:cNvCxnSpPr>
            <a:cxnSpLocks/>
          </p:cNvCxnSpPr>
          <p:nvPr/>
        </p:nvCxnSpPr>
        <p:spPr>
          <a:xfrm>
            <a:off x="11680091" y="1620732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Graphic 77" descr="User">
            <a:extLst>
              <a:ext uri="{FF2B5EF4-FFF2-40B4-BE49-F238E27FC236}">
                <a16:creationId xmlns:a16="http://schemas.microsoft.com/office/drawing/2014/main" id="{93E1A824-0398-3040-AE70-9D830ACE5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8408" y="665671"/>
            <a:ext cx="914400" cy="914400"/>
          </a:xfrm>
          <a:prstGeom prst="rect">
            <a:avLst/>
          </a:prstGeom>
        </p:spPr>
      </p:pic>
      <p:pic>
        <p:nvPicPr>
          <p:cNvPr id="79" name="Graphic 78" descr="User">
            <a:extLst>
              <a:ext uri="{FF2B5EF4-FFF2-40B4-BE49-F238E27FC236}">
                <a16:creationId xmlns:a16="http://schemas.microsoft.com/office/drawing/2014/main" id="{14C9444B-F395-8249-97D8-A05F99009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84391" y="665671"/>
            <a:ext cx="914400" cy="914400"/>
          </a:xfrm>
          <a:prstGeom prst="rect">
            <a:avLst/>
          </a:prstGeo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0882957-0C2C-E847-8336-D50E3DF7EE3A}"/>
              </a:ext>
            </a:extLst>
          </p:cNvPr>
          <p:cNvCxnSpPr>
            <a:cxnSpLocks/>
            <a:stCxn id="78" idx="2"/>
          </p:cNvCxnSpPr>
          <p:nvPr/>
        </p:nvCxnSpPr>
        <p:spPr>
          <a:xfrm>
            <a:off x="12695608" y="1580071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4C9B0FD-BAE1-B049-925F-B8F5E30955A2}"/>
              </a:ext>
            </a:extLst>
          </p:cNvPr>
          <p:cNvCxnSpPr>
            <a:cxnSpLocks/>
            <a:stCxn id="79" idx="2"/>
          </p:cNvCxnSpPr>
          <p:nvPr/>
        </p:nvCxnSpPr>
        <p:spPr>
          <a:xfrm>
            <a:off x="13841591" y="1580071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Content Placeholder 2">
            <a:extLst>
              <a:ext uri="{FF2B5EF4-FFF2-40B4-BE49-F238E27FC236}">
                <a16:creationId xmlns:a16="http://schemas.microsoft.com/office/drawing/2014/main" id="{06FA04DE-A7FB-A943-80B7-3FF911252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9" y="1088020"/>
            <a:ext cx="5049487" cy="6324335"/>
          </a:xfrm>
        </p:spPr>
        <p:txBody>
          <a:bodyPr>
            <a:normAutofit fontScale="92500" lnSpcReduction="20000"/>
          </a:bodyPr>
          <a:lstStyle/>
          <a:p>
            <a:r>
              <a:t>로드 밸런싱</a:t>
            </a:r>
          </a:p>
          <a:p>
            <a:r>
              <a:t>단일 파드에 트래픽이 과도하게 몰리는 것을 방지하기 위해 로드 밸런싱을 사용할 수 있습니다.</a:t>
            </a:r>
          </a:p>
          <a:p>
            <a:r>
              <a:t>쿠버네티스는 ReplicaSet에 포함된 파드들에 대해 서비스를 이용한 파드 로드 밸런싱을 기본 제공(Out of the box)합니다.</a:t>
            </a:r>
          </a:p>
          <a:p>
            <a:r>
              <a:t>Labels &amp; Selectors는 (Pod, ReplicaSet, Service) 세 가지를 서로 묶어주는 핵심 요소이며,</a:t>
            </a:r>
          </a:p>
          <a:p>
            <a:r>
              <a:t>이 오브젝트들의 YAML 매니페스트를 작성할 때 더 자세히 다룹니다.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E2DC26-4793-8941-A5BF-D784AB6F301C}"/>
              </a:ext>
            </a:extLst>
          </p:cNvPr>
          <p:cNvSpPr/>
          <p:nvPr/>
        </p:nvSpPr>
        <p:spPr>
          <a:xfrm>
            <a:off x="5828901" y="2657838"/>
            <a:ext cx="8285967" cy="49047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서비스</a:t>
            </a:r>
          </a:p>
        </p:txBody>
      </p:sp>
    </p:spTree>
    <p:extLst>
      <p:ext uri="{BB962C8B-B14F-4D97-AF65-F5344CB8AC3E}">
        <p14:creationId xmlns:p14="http://schemas.microsoft.com/office/powerpoint/2010/main" val="146086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0" grpId="0"/>
      <p:bldP spid="54" grpId="0" animBg="1"/>
      <p:bldP spid="57" grpId="0"/>
      <p:bldP spid="19" grpId="0" animBg="1"/>
      <p:bldP spid="52" grpId="0" animBg="1"/>
      <p:bldP spid="53" grpId="0"/>
      <p:bldP spid="72" grpId="0" animBg="1"/>
      <p:bldP spid="73" grpId="0"/>
      <p:bldP spid="94" grpId="0" animBg="1"/>
      <p:bldP spid="95" grpId="0"/>
      <p:bldP spid="104" grpId="0" animBg="1"/>
      <p:bldP spid="105" grpId="0"/>
      <p:bldP spid="20" grpId="0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F4EEF7-593A-4845-ABF0-7B5C289046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FDA6FC-0297-40C6-B640-7185791F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27" y="-228336"/>
            <a:ext cx="12618720" cy="1188851"/>
          </a:xfrm>
        </p:spPr>
        <p:txBody>
          <a:bodyPr/>
          <a:lstStyle/>
          <a:p>
            <a:r>
              <a:t>쿠버네티스 – 레플리카셋(레플리카셋(ReplicaSet))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1628E-F83C-46FE-A304-5FD4585D9599}"/>
              </a:ext>
            </a:extLst>
          </p:cNvPr>
          <p:cNvSpPr/>
          <p:nvPr/>
        </p:nvSpPr>
        <p:spPr>
          <a:xfrm>
            <a:off x="5395353" y="2199627"/>
            <a:ext cx="9179228" cy="497631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514D90-0924-479B-B559-FC251056322A}"/>
              </a:ext>
            </a:extLst>
          </p:cNvPr>
          <p:cNvSpPr/>
          <p:nvPr/>
        </p:nvSpPr>
        <p:spPr>
          <a:xfrm>
            <a:off x="5608298" y="2430684"/>
            <a:ext cx="4174235" cy="430730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F3B33-459A-422B-94BA-105B0AA1C8DD}"/>
              </a:ext>
            </a:extLst>
          </p:cNvPr>
          <p:cNvSpPr txBox="1"/>
          <p:nvPr/>
        </p:nvSpPr>
        <p:spPr>
          <a:xfrm>
            <a:off x="7103500" y="6307098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DA933F-7519-48BD-AA0F-619D6585DBBD}"/>
              </a:ext>
            </a:extLst>
          </p:cNvPr>
          <p:cNvSpPr txBox="1"/>
          <p:nvPr/>
        </p:nvSpPr>
        <p:spPr>
          <a:xfrm>
            <a:off x="8608076" y="6745055"/>
            <a:ext cx="23544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쿠버네티스 클러스터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3EAA96D-ED30-4B80-B7A6-1FB91213A236}"/>
              </a:ext>
            </a:extLst>
          </p:cNvPr>
          <p:cNvSpPr/>
          <p:nvPr/>
        </p:nvSpPr>
        <p:spPr>
          <a:xfrm>
            <a:off x="10089146" y="2430684"/>
            <a:ext cx="4174235" cy="430730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3564AA-69CD-42F9-A6E0-EF6F55E2DDA3}"/>
              </a:ext>
            </a:extLst>
          </p:cNvPr>
          <p:cNvSpPr txBox="1"/>
          <p:nvPr/>
        </p:nvSpPr>
        <p:spPr>
          <a:xfrm>
            <a:off x="11534499" y="6329071"/>
            <a:ext cx="171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7C2AB-FF93-44FE-A2D1-80ACA59D2430}"/>
              </a:ext>
            </a:extLst>
          </p:cNvPr>
          <p:cNvSpPr/>
          <p:nvPr/>
        </p:nvSpPr>
        <p:spPr>
          <a:xfrm>
            <a:off x="5828901" y="3697457"/>
            <a:ext cx="8285967" cy="247566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6744B2-BE71-4562-AE41-0A2EE2B37E75}"/>
              </a:ext>
            </a:extLst>
          </p:cNvPr>
          <p:cNvSpPr/>
          <p:nvPr/>
        </p:nvSpPr>
        <p:spPr>
          <a:xfrm>
            <a:off x="6054603" y="4012205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3B821E-5C16-4248-B06A-F2CEE2030D4B}"/>
              </a:ext>
            </a:extLst>
          </p:cNvPr>
          <p:cNvSpPr txBox="1"/>
          <p:nvPr/>
        </p:nvSpPr>
        <p:spPr>
          <a:xfrm>
            <a:off x="6562759" y="5276499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2281A72-9AB8-4D92-AB37-755A610922D3}"/>
              </a:ext>
            </a:extLst>
          </p:cNvPr>
          <p:cNvGrpSpPr/>
          <p:nvPr/>
        </p:nvGrpSpPr>
        <p:grpSpPr>
          <a:xfrm>
            <a:off x="6365989" y="4353840"/>
            <a:ext cx="1006998" cy="827590"/>
            <a:chOff x="853440" y="4579716"/>
            <a:chExt cx="1006998" cy="82759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35F23C2-A309-48C4-A509-70C14CEC180C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1C22650-4D77-4736-A479-979A1FF3F8BD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7B32F0D-4278-4A5F-9F85-37A874D5866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AE47964-91AF-4BEB-A542-15208CA0CF5B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E8570B6-B6DB-49AD-8C64-912E3A36B4BD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9C2FE03-322D-4F17-BB6A-0BF2222A5313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FB77D69-63B0-49BC-B2BF-891D23D13D8B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4893580D-20BD-474D-8094-CFDC8ECB81A0}"/>
              </a:ext>
            </a:extLst>
          </p:cNvPr>
          <p:cNvSpPr/>
          <p:nvPr/>
        </p:nvSpPr>
        <p:spPr>
          <a:xfrm>
            <a:off x="7969931" y="4022715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14E30C-5306-45A6-8C30-8C24C1C858BF}"/>
              </a:ext>
            </a:extLst>
          </p:cNvPr>
          <p:cNvSpPr txBox="1"/>
          <p:nvPr/>
        </p:nvSpPr>
        <p:spPr>
          <a:xfrm>
            <a:off x="8478087" y="5287009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82C700F-DAFF-49D4-9EC5-A0F0F9D13345}"/>
              </a:ext>
            </a:extLst>
          </p:cNvPr>
          <p:cNvGrpSpPr/>
          <p:nvPr/>
        </p:nvGrpSpPr>
        <p:grpSpPr>
          <a:xfrm>
            <a:off x="8281317" y="4364350"/>
            <a:ext cx="1006998" cy="827590"/>
            <a:chOff x="853440" y="4579716"/>
            <a:chExt cx="1006998" cy="82759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8674A2D-3A28-4601-8FC7-A3D43E52D485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2252C1E-B9D3-4960-A8F6-08C428156BA1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D44087C-6889-4A31-9935-69E1263C16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62B8F28-2B0F-4FB6-AFDB-F985E5CA547B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13C980F-DF8B-40CF-8377-D2B0FBC9C47C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B5A8355-740C-4AFF-9BE2-DAE992CBEC13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1886655-CA62-46B6-99B8-27557DBDD471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2E735263-AC2D-4E3A-BAB4-31E39A36AE9E}"/>
              </a:ext>
            </a:extLst>
          </p:cNvPr>
          <p:cNvSpPr/>
          <p:nvPr/>
        </p:nvSpPr>
        <p:spPr>
          <a:xfrm>
            <a:off x="10384977" y="3996100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5DBD057-D289-4BA1-8CB5-275EFA516CF7}"/>
              </a:ext>
            </a:extLst>
          </p:cNvPr>
          <p:cNvSpPr txBox="1"/>
          <p:nvPr/>
        </p:nvSpPr>
        <p:spPr>
          <a:xfrm>
            <a:off x="10893133" y="5260394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3CC605D-0215-43F9-8ADA-CB35528CA354}"/>
              </a:ext>
            </a:extLst>
          </p:cNvPr>
          <p:cNvGrpSpPr/>
          <p:nvPr/>
        </p:nvGrpSpPr>
        <p:grpSpPr>
          <a:xfrm>
            <a:off x="10696363" y="4337735"/>
            <a:ext cx="1006998" cy="827590"/>
            <a:chOff x="853440" y="4579716"/>
            <a:chExt cx="1006998" cy="82759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092E8A8-2ECC-4D7C-BC4D-6D7CB763AA0E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5DCA9C4-62A7-4C27-8356-1DFB1D8388AC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398F970-4660-45E7-B746-9CE08BCF910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1F74877-BBBB-423D-95A2-35D85499F35D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257629F-5252-40F1-BB2F-72A7D185B778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F50B40-CCB7-49E8-9C49-42425696126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4EA6129-3E2F-41E6-BF7D-34EB3DDFC42F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E1D6CC2-2A0A-4CEC-B3CF-85F223DEDDC2}"/>
              </a:ext>
            </a:extLst>
          </p:cNvPr>
          <p:cNvSpPr/>
          <p:nvPr/>
        </p:nvSpPr>
        <p:spPr>
          <a:xfrm>
            <a:off x="12300305" y="3965175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0C7D59C-4785-448B-BF27-93434E598004}"/>
              </a:ext>
            </a:extLst>
          </p:cNvPr>
          <p:cNvSpPr txBox="1"/>
          <p:nvPr/>
        </p:nvSpPr>
        <p:spPr>
          <a:xfrm>
            <a:off x="12808461" y="5229469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79A2CEF-77C4-4CE3-A141-8E4771AEEFAC}"/>
              </a:ext>
            </a:extLst>
          </p:cNvPr>
          <p:cNvGrpSpPr/>
          <p:nvPr/>
        </p:nvGrpSpPr>
        <p:grpSpPr>
          <a:xfrm>
            <a:off x="12611691" y="4306810"/>
            <a:ext cx="1006998" cy="827590"/>
            <a:chOff x="853440" y="4579716"/>
            <a:chExt cx="1006998" cy="82759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2A7AAF0-CCDA-4EFE-B87C-5210618FF683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2D5F09CC-F018-4F00-A580-F2B8892F780E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B3ADEA2-BE3E-4318-BD2F-CA5EDA50E1F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7D0D2D9-AA60-4D54-8A0A-2C28E6BA1DF7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618A8A70-8BAB-47F3-9AF3-F1B0477406FE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FA16AF0-7382-4740-8D8B-D54047F83287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01F9814-9B4B-4321-9E25-9C45DBE6BBF3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3863E61-9F55-4F49-B000-4CEA81FDFF45}"/>
              </a:ext>
            </a:extLst>
          </p:cNvPr>
          <p:cNvSpPr txBox="1"/>
          <p:nvPr/>
        </p:nvSpPr>
        <p:spPr>
          <a:xfrm>
            <a:off x="9427872" y="5737255"/>
            <a:ext cx="13652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레플리카셋(ReplicaSet)</a:t>
            </a:r>
          </a:p>
        </p:txBody>
      </p:sp>
      <p:pic>
        <p:nvPicPr>
          <p:cNvPr id="55" name="Graphic 54" descr="User">
            <a:extLst>
              <a:ext uri="{FF2B5EF4-FFF2-40B4-BE49-F238E27FC236}">
                <a16:creationId xmlns:a16="http://schemas.microsoft.com/office/drawing/2014/main" id="{7FE31E42-9473-A146-A5FF-3BFF62AF8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7411" y="714996"/>
            <a:ext cx="914400" cy="914400"/>
          </a:xfrm>
          <a:prstGeom prst="rect">
            <a:avLst/>
          </a:prstGeom>
        </p:spPr>
      </p:pic>
      <p:pic>
        <p:nvPicPr>
          <p:cNvPr id="56" name="Graphic 55" descr="User">
            <a:extLst>
              <a:ext uri="{FF2B5EF4-FFF2-40B4-BE49-F238E27FC236}">
                <a16:creationId xmlns:a16="http://schemas.microsoft.com/office/drawing/2014/main" id="{99065ED7-9DCA-BD41-AC86-D95E811E8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3394" y="714996"/>
            <a:ext cx="914400" cy="914400"/>
          </a:xfrm>
          <a:prstGeom prst="rect">
            <a:avLst/>
          </a:prstGeom>
        </p:spPr>
      </p:pic>
      <p:pic>
        <p:nvPicPr>
          <p:cNvPr id="58" name="Graphic 57" descr="User">
            <a:extLst>
              <a:ext uri="{FF2B5EF4-FFF2-40B4-BE49-F238E27FC236}">
                <a16:creationId xmlns:a16="http://schemas.microsoft.com/office/drawing/2014/main" id="{F58CEACF-1084-A849-8870-4A9B602D8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9539" y="705029"/>
            <a:ext cx="914400" cy="9144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068D767-0626-1C44-93F4-2A22C06D9137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6054611" y="1629396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618D84C-950C-2447-9EF8-C5507306BFE7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7200594" y="1629396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3B86D77-96AA-EF46-87CB-BEDA9636CF8C}"/>
              </a:ext>
            </a:extLst>
          </p:cNvPr>
          <p:cNvCxnSpPr>
            <a:cxnSpLocks/>
          </p:cNvCxnSpPr>
          <p:nvPr/>
        </p:nvCxnSpPr>
        <p:spPr>
          <a:xfrm>
            <a:off x="8312990" y="1632646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User">
            <a:extLst>
              <a:ext uri="{FF2B5EF4-FFF2-40B4-BE49-F238E27FC236}">
                <a16:creationId xmlns:a16="http://schemas.microsoft.com/office/drawing/2014/main" id="{31CFCCEA-3639-3846-B7DA-818FC9A39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4512" y="703082"/>
            <a:ext cx="914400" cy="914400"/>
          </a:xfrm>
          <a:prstGeom prst="rect">
            <a:avLst/>
          </a:prstGeom>
        </p:spPr>
      </p:pic>
      <p:pic>
        <p:nvPicPr>
          <p:cNvPr id="63" name="Graphic 62" descr="User">
            <a:extLst>
              <a:ext uri="{FF2B5EF4-FFF2-40B4-BE49-F238E27FC236}">
                <a16:creationId xmlns:a16="http://schemas.microsoft.com/office/drawing/2014/main" id="{6807737B-28DF-434C-B757-DF12BCBED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495" y="703082"/>
            <a:ext cx="914400" cy="914400"/>
          </a:xfrm>
          <a:prstGeom prst="rect">
            <a:avLst/>
          </a:prstGeom>
        </p:spPr>
      </p:pic>
      <p:pic>
        <p:nvPicPr>
          <p:cNvPr id="74" name="Graphic 73" descr="User">
            <a:extLst>
              <a:ext uri="{FF2B5EF4-FFF2-40B4-BE49-F238E27FC236}">
                <a16:creationId xmlns:a16="http://schemas.microsoft.com/office/drawing/2014/main" id="{B0CEB636-0BEB-DA4A-A158-A097F10D6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6640" y="693115"/>
            <a:ext cx="914400" cy="914400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508FE28-B22D-CB45-9470-616724AB7E5E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9421712" y="1617482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9215BBF-91C8-F745-A685-6EAED158706C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10567695" y="1617482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524EE3-14E2-FD41-A0C1-CFDA113C54FF}"/>
              </a:ext>
            </a:extLst>
          </p:cNvPr>
          <p:cNvCxnSpPr>
            <a:cxnSpLocks/>
          </p:cNvCxnSpPr>
          <p:nvPr/>
        </p:nvCxnSpPr>
        <p:spPr>
          <a:xfrm>
            <a:off x="11680091" y="1620732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Graphic 77" descr="User">
            <a:extLst>
              <a:ext uri="{FF2B5EF4-FFF2-40B4-BE49-F238E27FC236}">
                <a16:creationId xmlns:a16="http://schemas.microsoft.com/office/drawing/2014/main" id="{93E1A824-0398-3040-AE70-9D830ACE5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8408" y="665671"/>
            <a:ext cx="914400" cy="914400"/>
          </a:xfrm>
          <a:prstGeom prst="rect">
            <a:avLst/>
          </a:prstGeom>
        </p:spPr>
      </p:pic>
      <p:pic>
        <p:nvPicPr>
          <p:cNvPr id="79" name="Graphic 78" descr="User">
            <a:extLst>
              <a:ext uri="{FF2B5EF4-FFF2-40B4-BE49-F238E27FC236}">
                <a16:creationId xmlns:a16="http://schemas.microsoft.com/office/drawing/2014/main" id="{14C9444B-F395-8249-97D8-A05F99009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84391" y="665671"/>
            <a:ext cx="914400" cy="914400"/>
          </a:xfrm>
          <a:prstGeom prst="rect">
            <a:avLst/>
          </a:prstGeo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0882957-0C2C-E847-8336-D50E3DF7EE3A}"/>
              </a:ext>
            </a:extLst>
          </p:cNvPr>
          <p:cNvCxnSpPr>
            <a:cxnSpLocks/>
            <a:stCxn id="78" idx="2"/>
          </p:cNvCxnSpPr>
          <p:nvPr/>
        </p:nvCxnSpPr>
        <p:spPr>
          <a:xfrm>
            <a:off x="12695608" y="1580071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4C9B0FD-BAE1-B049-925F-B8F5E30955A2}"/>
              </a:ext>
            </a:extLst>
          </p:cNvPr>
          <p:cNvCxnSpPr>
            <a:cxnSpLocks/>
            <a:stCxn id="79" idx="2"/>
          </p:cNvCxnSpPr>
          <p:nvPr/>
        </p:nvCxnSpPr>
        <p:spPr>
          <a:xfrm>
            <a:off x="13841591" y="1580071"/>
            <a:ext cx="8001" cy="474452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Content Placeholder 2">
            <a:extLst>
              <a:ext uri="{FF2B5EF4-FFF2-40B4-BE49-F238E27FC236}">
                <a16:creationId xmlns:a16="http://schemas.microsoft.com/office/drawing/2014/main" id="{06FA04DE-A7FB-A943-80B7-3FF911252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0" y="1088020"/>
            <a:ext cx="5180660" cy="6324335"/>
          </a:xfrm>
        </p:spPr>
        <p:txBody>
          <a:bodyPr/>
          <a:lstStyle/>
          <a:p>
            <a:r>
              <a:t>스케일링</a:t>
            </a:r>
          </a:p>
          <a:p>
            <a:r>
              <a:t>부하가 기존 파드 수로 감당하기 어려울 정도로 커지면,</a:t>
            </a:r>
          </a:p>
          <a:p>
            <a:r>
              <a:t>쿠버네티스는 필요에 따라 파드를 추가하여 애플리케이션을 쉽게 스케일 업할 수 있게 해줍니다.</a:t>
            </a:r>
          </a:p>
          <a:p>
            <a:r>
              <a:t>이 과정은 매끄럽고 매우 빠르게 이루어집니다.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E2DC26-4793-8941-A5BF-D784AB6F301C}"/>
              </a:ext>
            </a:extLst>
          </p:cNvPr>
          <p:cNvSpPr/>
          <p:nvPr/>
        </p:nvSpPr>
        <p:spPr>
          <a:xfrm>
            <a:off x="5828901" y="2657838"/>
            <a:ext cx="8285967" cy="49047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서비스</a:t>
            </a:r>
          </a:p>
        </p:txBody>
      </p:sp>
    </p:spTree>
    <p:extLst>
      <p:ext uri="{BB962C8B-B14F-4D97-AF65-F5344CB8AC3E}">
        <p14:creationId xmlns:p14="http://schemas.microsoft.com/office/powerpoint/2010/main" val="81937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0" grpId="0"/>
      <p:bldP spid="54" grpId="0" animBg="1"/>
      <p:bldP spid="57" grpId="0"/>
      <p:bldP spid="19" grpId="0" animBg="1"/>
      <p:bldP spid="52" grpId="0" animBg="1"/>
      <p:bldP spid="53" grpId="0"/>
      <p:bldP spid="72" grpId="0" animBg="1"/>
      <p:bldP spid="73" grpId="0"/>
      <p:bldP spid="94" grpId="0" animBg="1"/>
      <p:bldP spid="95" grpId="0"/>
      <p:bldP spid="104" grpId="0" animBg="1"/>
      <p:bldP spid="105" grpId="0"/>
      <p:bldP spid="20" grpId="0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09" y="2389836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레플리카셋(레플리카셋(ReplicaSet))</a:t>
            </a:r>
          </a:p>
          <a:p>
            <a: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193296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3" y="2899123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디플로이먼트(디플로이먼트(Deployment))</a:t>
            </a:r>
          </a:p>
        </p:txBody>
      </p:sp>
    </p:spTree>
    <p:extLst>
      <p:ext uri="{BB962C8B-B14F-4D97-AF65-F5344CB8AC3E}">
        <p14:creationId xmlns:p14="http://schemas.microsoft.com/office/powerpoint/2010/main" val="2032746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F4EEF7-593A-4845-ABF0-7B5C289046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FDA6FC-0297-40C6-B640-7185791F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251184"/>
            <a:ext cx="12618720" cy="1188851"/>
          </a:xfrm>
        </p:spPr>
        <p:txBody>
          <a:bodyPr/>
          <a:lstStyle/>
          <a:p>
            <a:r>
              <a:t>쿠버네티스 – 디플로이먼트(디플로이먼트(Deployment))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1628E-F83C-46FE-A304-5FD4585D9599}"/>
              </a:ext>
            </a:extLst>
          </p:cNvPr>
          <p:cNvSpPr/>
          <p:nvPr/>
        </p:nvSpPr>
        <p:spPr>
          <a:xfrm>
            <a:off x="2163619" y="1875616"/>
            <a:ext cx="11065398" cy="5738194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514D90-0924-479B-B559-FC251056322A}"/>
              </a:ext>
            </a:extLst>
          </p:cNvPr>
          <p:cNvSpPr/>
          <p:nvPr/>
        </p:nvSpPr>
        <p:spPr>
          <a:xfrm>
            <a:off x="2528692" y="2107576"/>
            <a:ext cx="4891743" cy="511119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F3B33-459A-422B-94BA-105B0AA1C8DD}"/>
              </a:ext>
            </a:extLst>
          </p:cNvPr>
          <p:cNvSpPr txBox="1"/>
          <p:nvPr/>
        </p:nvSpPr>
        <p:spPr>
          <a:xfrm>
            <a:off x="4050187" y="6851204"/>
            <a:ext cx="2071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 - 1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DA933F-7519-48BD-AA0F-619D6585DBBD}"/>
              </a:ext>
            </a:extLst>
          </p:cNvPr>
          <p:cNvSpPr txBox="1"/>
          <p:nvPr/>
        </p:nvSpPr>
        <p:spPr>
          <a:xfrm>
            <a:off x="6593300" y="7182923"/>
            <a:ext cx="23544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쿠버네티스 클러스터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3EAA96D-ED30-4B80-B7A6-1FB91213A236}"/>
              </a:ext>
            </a:extLst>
          </p:cNvPr>
          <p:cNvSpPr/>
          <p:nvPr/>
        </p:nvSpPr>
        <p:spPr>
          <a:xfrm>
            <a:off x="8120591" y="2107577"/>
            <a:ext cx="4737265" cy="511119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3564AA-69CD-42F9-A6E0-EF6F55E2DDA3}"/>
              </a:ext>
            </a:extLst>
          </p:cNvPr>
          <p:cNvSpPr txBox="1"/>
          <p:nvPr/>
        </p:nvSpPr>
        <p:spPr>
          <a:xfrm>
            <a:off x="9246876" y="6849089"/>
            <a:ext cx="2071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워커 노드 - 2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2A8889-4B40-438D-8CCA-E6401D68D57B}"/>
              </a:ext>
            </a:extLst>
          </p:cNvPr>
          <p:cNvSpPr/>
          <p:nvPr/>
        </p:nvSpPr>
        <p:spPr>
          <a:xfrm>
            <a:off x="3000064" y="3225045"/>
            <a:ext cx="9421793" cy="35737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44450"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1B6B174-7764-428C-9D94-57D8A2CA3579}"/>
              </a:ext>
            </a:extLst>
          </p:cNvPr>
          <p:cNvSpPr/>
          <p:nvPr/>
        </p:nvSpPr>
        <p:spPr>
          <a:xfrm>
            <a:off x="3338644" y="3728553"/>
            <a:ext cx="8807669" cy="247566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4E1852A-132D-4565-9274-87D61794A98A}"/>
              </a:ext>
            </a:extLst>
          </p:cNvPr>
          <p:cNvSpPr/>
          <p:nvPr/>
        </p:nvSpPr>
        <p:spPr>
          <a:xfrm>
            <a:off x="3542031" y="4031726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74703B3-718E-43C7-A56B-C23DCDEBB419}"/>
              </a:ext>
            </a:extLst>
          </p:cNvPr>
          <p:cNvSpPr txBox="1"/>
          <p:nvPr/>
        </p:nvSpPr>
        <p:spPr>
          <a:xfrm>
            <a:off x="4050187" y="5296020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70FA42A-789F-4CEA-AB7D-BDC9C0B91597}"/>
              </a:ext>
            </a:extLst>
          </p:cNvPr>
          <p:cNvGrpSpPr/>
          <p:nvPr/>
        </p:nvGrpSpPr>
        <p:grpSpPr>
          <a:xfrm>
            <a:off x="3853417" y="4373361"/>
            <a:ext cx="1006998" cy="827590"/>
            <a:chOff x="853440" y="4579716"/>
            <a:chExt cx="1006998" cy="827590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44C0AF28-8B21-4A2B-981F-A71AAF55CB5F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4F10CEE-80F1-4768-985A-8F8039082740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B9AAB00-B7DF-407B-9488-EDB194E99B31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17A63F5C-8A65-4381-9F09-C29C99D70D5B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C07C87A-A94D-4999-96FB-1B0517FCC968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81E02E33-DB4F-4765-B2BA-1290471FCB4E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82683EFD-D826-4875-B146-46D5F2CEF6AD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841CD70-F1BB-4EBB-AA45-06793C50F81B}"/>
              </a:ext>
            </a:extLst>
          </p:cNvPr>
          <p:cNvSpPr/>
          <p:nvPr/>
        </p:nvSpPr>
        <p:spPr>
          <a:xfrm>
            <a:off x="5457359" y="4042236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9F705E2-62B9-4CF4-94C3-6DD6D4F36661}"/>
              </a:ext>
            </a:extLst>
          </p:cNvPr>
          <p:cNvSpPr txBox="1"/>
          <p:nvPr/>
        </p:nvSpPr>
        <p:spPr>
          <a:xfrm>
            <a:off x="5965515" y="5306530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D95D049-63CC-42EE-85A9-24334D355C47}"/>
              </a:ext>
            </a:extLst>
          </p:cNvPr>
          <p:cNvGrpSpPr/>
          <p:nvPr/>
        </p:nvGrpSpPr>
        <p:grpSpPr>
          <a:xfrm>
            <a:off x="5768745" y="4383871"/>
            <a:ext cx="1006998" cy="827590"/>
            <a:chOff x="853440" y="4579716"/>
            <a:chExt cx="1006998" cy="827590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FB3F022-3A02-4B70-8285-F5569E208230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58DDDF3D-DB58-4913-9B55-A5C54F7C6F40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14C98003-840D-4714-9535-8C5434E8FA5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5AF247D-D3A8-4FE6-B95A-C061398D53BF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1BE2E516-1792-46B5-A8D0-C031374AD353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7CEFBB31-D5CA-410A-B21D-7FE497314E6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1937A577-2FC2-4502-8683-0D096A137A95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9574623-8C6C-4677-B1AA-C5125CA8789E}"/>
              </a:ext>
            </a:extLst>
          </p:cNvPr>
          <p:cNvSpPr/>
          <p:nvPr/>
        </p:nvSpPr>
        <p:spPr>
          <a:xfrm>
            <a:off x="8416422" y="4027196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1636F2C-A2E3-46C6-A643-92932F5DD410}"/>
              </a:ext>
            </a:extLst>
          </p:cNvPr>
          <p:cNvSpPr txBox="1"/>
          <p:nvPr/>
        </p:nvSpPr>
        <p:spPr>
          <a:xfrm>
            <a:off x="8924578" y="5291490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A431A5D-7486-46BC-8DC4-18FA276F12A2}"/>
              </a:ext>
            </a:extLst>
          </p:cNvPr>
          <p:cNvGrpSpPr/>
          <p:nvPr/>
        </p:nvGrpSpPr>
        <p:grpSpPr>
          <a:xfrm>
            <a:off x="8727808" y="4368831"/>
            <a:ext cx="1006998" cy="827590"/>
            <a:chOff x="853440" y="4579716"/>
            <a:chExt cx="1006998" cy="827590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53758EB2-4C28-4209-8448-E11FFED85918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12CEA2A-FC0D-4BE7-89AC-426B7C18DDA3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3328CEE-9DB9-4124-A54B-AD1BF2C229F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9B862D2-A385-499A-B225-3985A91B5596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9C11FEEC-A1AD-4903-B163-51415E8C8D3D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57BCB1CE-C3F0-40F4-9EF0-E7480AB2C4E0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3B91B1A-6F7F-4E53-9F1B-CFF894F74B06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2E1A29D0-08FD-444A-91BF-06FB024B40D3}"/>
              </a:ext>
            </a:extLst>
          </p:cNvPr>
          <p:cNvSpPr/>
          <p:nvPr/>
        </p:nvSpPr>
        <p:spPr>
          <a:xfrm>
            <a:off x="10331750" y="3996271"/>
            <a:ext cx="1660908" cy="1666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5A69A01-3EBF-438A-9BAC-88E97E07A699}"/>
              </a:ext>
            </a:extLst>
          </p:cNvPr>
          <p:cNvSpPr txBox="1"/>
          <p:nvPr/>
        </p:nvSpPr>
        <p:spPr>
          <a:xfrm>
            <a:off x="10839906" y="5260565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337FFE1C-2F84-44B0-8F35-B19C246D0451}"/>
              </a:ext>
            </a:extLst>
          </p:cNvPr>
          <p:cNvGrpSpPr/>
          <p:nvPr/>
        </p:nvGrpSpPr>
        <p:grpSpPr>
          <a:xfrm>
            <a:off x="10643136" y="4337906"/>
            <a:ext cx="1006998" cy="827590"/>
            <a:chOff x="853440" y="4579716"/>
            <a:chExt cx="1006998" cy="827590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E746BB20-3353-4DCE-BBF5-30065548635D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837FED72-0BA7-42A8-BB05-66C5E15ED6B0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50C18E1D-0918-4CB3-954D-91BBB96779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3A7CB74-2A7F-48F2-82DB-C832F148A962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2FDC518A-3289-4A86-B277-D48A4DC9B062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702874B-6E3C-4181-88D1-B27EDCBE7F2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4A4CD832-D6F6-4021-A6BE-C8F74ECEAAB2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BBE62429-E342-4C0B-9431-2F12E2E99789}"/>
              </a:ext>
            </a:extLst>
          </p:cNvPr>
          <p:cNvSpPr txBox="1"/>
          <p:nvPr/>
        </p:nvSpPr>
        <p:spPr>
          <a:xfrm>
            <a:off x="7051176" y="5744212"/>
            <a:ext cx="13652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레플리카셋(ReplicaSet)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BA140A-628B-4FBF-A8F8-ECA3DF5C74A1}"/>
              </a:ext>
            </a:extLst>
          </p:cNvPr>
          <p:cNvSpPr txBox="1"/>
          <p:nvPr/>
        </p:nvSpPr>
        <p:spPr>
          <a:xfrm>
            <a:off x="6974142" y="6407587"/>
            <a:ext cx="15927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디플로이먼트(Deployment)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84E7B-7538-0B42-9F81-DA1C575F6B69}"/>
              </a:ext>
            </a:extLst>
          </p:cNvPr>
          <p:cNvSpPr/>
          <p:nvPr/>
        </p:nvSpPr>
        <p:spPr>
          <a:xfrm>
            <a:off x="2980266" y="2322906"/>
            <a:ext cx="9421793" cy="54295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서비스</a:t>
            </a:r>
          </a:p>
        </p:txBody>
      </p:sp>
      <p:pic>
        <p:nvPicPr>
          <p:cNvPr id="55" name="Graphic 54" descr="User">
            <a:extLst>
              <a:ext uri="{FF2B5EF4-FFF2-40B4-BE49-F238E27FC236}">
                <a16:creationId xmlns:a16="http://schemas.microsoft.com/office/drawing/2014/main" id="{075E19E8-EB5E-504B-BC3C-F9AB5D023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1444" y="475561"/>
            <a:ext cx="914400" cy="914400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079ACD6-B84B-E142-96D7-BE602B6A0EAD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3338644" y="1389961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57" descr="User">
            <a:extLst>
              <a:ext uri="{FF2B5EF4-FFF2-40B4-BE49-F238E27FC236}">
                <a16:creationId xmlns:a16="http://schemas.microsoft.com/office/drawing/2014/main" id="{05B38FFD-5332-094F-A5AC-0F7E3DC6A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9022" y="472143"/>
            <a:ext cx="914400" cy="9144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F261AFD-132D-A340-B1E4-C1D4A77A7D5B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4626222" y="1386543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Graphic 59" descr="User">
            <a:extLst>
              <a:ext uri="{FF2B5EF4-FFF2-40B4-BE49-F238E27FC236}">
                <a16:creationId xmlns:a16="http://schemas.microsoft.com/office/drawing/2014/main" id="{7912C8F7-33C1-CD48-BF9C-4C741C855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398" y="483083"/>
            <a:ext cx="914400" cy="914400"/>
          </a:xfrm>
          <a:prstGeom prst="rect">
            <a:avLst/>
          </a:prstGeom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045E4E1-6814-6F4F-A93A-579A9905AC6A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763598" y="1397483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User">
            <a:extLst>
              <a:ext uri="{FF2B5EF4-FFF2-40B4-BE49-F238E27FC236}">
                <a16:creationId xmlns:a16="http://schemas.microsoft.com/office/drawing/2014/main" id="{05557C88-EB52-8A42-BA50-9F30A49A0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3976" y="479665"/>
            <a:ext cx="914400" cy="914400"/>
          </a:xfrm>
          <a:prstGeom prst="rect">
            <a:avLst/>
          </a:prstGeom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263857D-F3B0-9448-AE7E-FA7608F3577F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7051176" y="1394065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Graphic 63" descr="User">
            <a:extLst>
              <a:ext uri="{FF2B5EF4-FFF2-40B4-BE49-F238E27FC236}">
                <a16:creationId xmlns:a16="http://schemas.microsoft.com/office/drawing/2014/main" id="{0810D150-4EE2-E64E-BC40-F87646369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0749" y="484902"/>
            <a:ext cx="914400" cy="914400"/>
          </a:xfrm>
          <a:prstGeom prst="rect">
            <a:avLst/>
          </a:prstGeom>
        </p:spPr>
      </p:pic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CE25A85-0481-5A47-AE86-791C9F0B2063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8217949" y="1399302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User">
            <a:extLst>
              <a:ext uri="{FF2B5EF4-FFF2-40B4-BE49-F238E27FC236}">
                <a16:creationId xmlns:a16="http://schemas.microsoft.com/office/drawing/2014/main" id="{6F567BFC-DC6A-7543-AD35-6079773CC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8327" y="481484"/>
            <a:ext cx="914400" cy="914400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A4AE564-40DB-4042-A2B0-93F60D6020C7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9505527" y="1395884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phic 67" descr="User">
            <a:extLst>
              <a:ext uri="{FF2B5EF4-FFF2-40B4-BE49-F238E27FC236}">
                <a16:creationId xmlns:a16="http://schemas.microsoft.com/office/drawing/2014/main" id="{4C68DB3A-F7A7-3148-94BE-6E9ADC381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5703" y="492424"/>
            <a:ext cx="914400" cy="914400"/>
          </a:xfrm>
          <a:prstGeom prst="rect">
            <a:avLst/>
          </a:prstGeom>
        </p:spPr>
      </p:pic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6C7AA84-8E96-224E-91C3-2FD96A7515F1}"/>
              </a:ext>
            </a:extLst>
          </p:cNvPr>
          <p:cNvCxnSpPr>
            <a:cxnSpLocks/>
            <a:stCxn id="68" idx="2"/>
          </p:cNvCxnSpPr>
          <p:nvPr/>
        </p:nvCxnSpPr>
        <p:spPr>
          <a:xfrm>
            <a:off x="10642903" y="1406824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Graphic 69" descr="User">
            <a:extLst>
              <a:ext uri="{FF2B5EF4-FFF2-40B4-BE49-F238E27FC236}">
                <a16:creationId xmlns:a16="http://schemas.microsoft.com/office/drawing/2014/main" id="{C21822B2-AF48-734F-BE08-31880A7D4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3281" y="489006"/>
            <a:ext cx="914400" cy="914400"/>
          </a:xfrm>
          <a:prstGeom prst="rect">
            <a:avLst/>
          </a:prstGeom>
        </p:spPr>
      </p:pic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0925340-7873-6345-9A3A-F7EFAE0027BD}"/>
              </a:ext>
            </a:extLst>
          </p:cNvPr>
          <p:cNvCxnSpPr>
            <a:cxnSpLocks/>
            <a:stCxn id="70" idx="2"/>
          </p:cNvCxnSpPr>
          <p:nvPr/>
        </p:nvCxnSpPr>
        <p:spPr>
          <a:xfrm>
            <a:off x="11930481" y="1403406"/>
            <a:ext cx="5217" cy="485655"/>
          </a:xfrm>
          <a:prstGeom prst="straightConnector1">
            <a:avLst/>
          </a:prstGeom>
          <a:ln w="476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9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0" grpId="0"/>
      <p:bldP spid="54" grpId="0" animBg="1"/>
      <p:bldP spid="57" grpId="0"/>
      <p:bldP spid="7" grpId="0" animBg="1"/>
      <p:bldP spid="136" grpId="0" animBg="1"/>
      <p:bldP spid="137" grpId="0" animBg="1"/>
      <p:bldP spid="138" grpId="0"/>
      <p:bldP spid="147" grpId="0" animBg="1"/>
      <p:bldP spid="148" grpId="0"/>
      <p:bldP spid="157" grpId="0" animBg="1"/>
      <p:bldP spid="158" grpId="0"/>
      <p:bldP spid="167" grpId="0" animBg="1"/>
      <p:bldP spid="168" grpId="0"/>
      <p:bldP spid="177" grpId="0"/>
      <p:bldP spid="8" grpId="0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AAFAE5-8F4F-3740-9CD1-71D114F607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9EEEA5-1B1F-E149-A69E-C5BF33B45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35843"/>
            <a:ext cx="12618720" cy="1188851"/>
          </a:xfrm>
        </p:spPr>
        <p:txBody>
          <a:bodyPr/>
          <a:lstStyle/>
          <a:p>
            <a:r>
              <a:t>쿠버네티스 - 디플로이먼트(Deployment)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DC95F2-1264-3A4A-8B49-5E4B481893E8}"/>
              </a:ext>
            </a:extLst>
          </p:cNvPr>
          <p:cNvSpPr/>
          <p:nvPr/>
        </p:nvSpPr>
        <p:spPr>
          <a:xfrm>
            <a:off x="844952" y="3592175"/>
            <a:ext cx="2372810" cy="63660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디플로이먼트(디플로이먼트(Deployment))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9DAF99-7510-3348-A94B-A131728A34DE}"/>
              </a:ext>
            </a:extLst>
          </p:cNvPr>
          <p:cNvSpPr/>
          <p:nvPr/>
        </p:nvSpPr>
        <p:spPr>
          <a:xfrm>
            <a:off x="6286982" y="1224694"/>
            <a:ext cx="5299276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ReplicaSet을 롤아웃하기 위해 Deployment를 생성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5ED618-2EA7-384D-BB31-9FC3890E0DA9}"/>
              </a:ext>
            </a:extLst>
          </p:cNvPr>
          <p:cNvSpPr/>
          <p:nvPr/>
        </p:nvSpPr>
        <p:spPr>
          <a:xfrm>
            <a:off x="6286982" y="1998573"/>
            <a:ext cx="5299276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Updating the 디플로이먼트(Deployment)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D5BB22-B7EB-E043-A223-A294D38F72C3}"/>
              </a:ext>
            </a:extLst>
          </p:cNvPr>
          <p:cNvSpPr/>
          <p:nvPr/>
        </p:nvSpPr>
        <p:spPr>
          <a:xfrm>
            <a:off x="6286982" y="2785653"/>
            <a:ext cx="5299276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Rolling Back a 디플로이먼트(Deployment)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373784-5E2D-5B4C-831A-EE8E759D939F}"/>
              </a:ext>
            </a:extLst>
          </p:cNvPr>
          <p:cNvSpPr/>
          <p:nvPr/>
        </p:nvSpPr>
        <p:spPr>
          <a:xfrm>
            <a:off x="6286982" y="3559532"/>
            <a:ext cx="5299276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Scaling a 디플로이먼트(Deployment)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9506E3-669A-3642-86B6-D1AF99D15BA6}"/>
              </a:ext>
            </a:extLst>
          </p:cNvPr>
          <p:cNvSpPr/>
          <p:nvPr/>
        </p:nvSpPr>
        <p:spPr>
          <a:xfrm>
            <a:off x="6286982" y="4364964"/>
            <a:ext cx="5299276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Deployment 일시중지 및 재개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364871-FA3B-9143-8548-196C9302701C}"/>
              </a:ext>
            </a:extLst>
          </p:cNvPr>
          <p:cNvSpPr/>
          <p:nvPr/>
        </p:nvSpPr>
        <p:spPr>
          <a:xfrm>
            <a:off x="6286982" y="5138843"/>
            <a:ext cx="5299276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디플로이먼트(Deployment) Status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8079FE-3088-EC4A-A889-8B5C400418A4}"/>
              </a:ext>
            </a:extLst>
          </p:cNvPr>
          <p:cNvSpPr/>
          <p:nvPr/>
        </p:nvSpPr>
        <p:spPr>
          <a:xfrm>
            <a:off x="6286982" y="5925923"/>
            <a:ext cx="5299276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정리 정책(Clean up Policy)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494E1A-2019-2745-826D-58D6C2D7AAAA}"/>
              </a:ext>
            </a:extLst>
          </p:cNvPr>
          <p:cNvSpPr/>
          <p:nvPr/>
        </p:nvSpPr>
        <p:spPr>
          <a:xfrm>
            <a:off x="6286982" y="6699802"/>
            <a:ext cx="5299276" cy="6366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Canary 디플로이먼트(디플로이먼트(Deployment))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A1F18C-0760-1143-A2B5-B145B68CB43B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217762" y="1542998"/>
            <a:ext cx="3069220" cy="236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2A17D7-8BBA-154A-9788-34A1BD58DB34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3217762" y="2316877"/>
            <a:ext cx="3069220" cy="159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311CE9-0026-CB49-BF8E-350AA86832B1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3217762" y="3103957"/>
            <a:ext cx="3069220" cy="806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5108E17-D8E3-B747-A3B0-D9716B9E0747}"/>
              </a:ext>
            </a:extLst>
          </p:cNvPr>
          <p:cNvCxnSpPr>
            <a:stCxn id="5" idx="3"/>
            <a:endCxn id="9" idx="1"/>
          </p:cNvCxnSpPr>
          <p:nvPr/>
        </p:nvCxnSpPr>
        <p:spPr>
          <a:xfrm flipV="1">
            <a:off x="3217762" y="3877836"/>
            <a:ext cx="3069220" cy="32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CE01D3-2377-CD49-B4C5-3A37FC69FB5C}"/>
              </a:ext>
            </a:extLst>
          </p:cNvPr>
          <p:cNvCxnSpPr>
            <a:stCxn id="5" idx="3"/>
            <a:endCxn id="10" idx="1"/>
          </p:cNvCxnSpPr>
          <p:nvPr/>
        </p:nvCxnSpPr>
        <p:spPr>
          <a:xfrm>
            <a:off x="3217762" y="3910479"/>
            <a:ext cx="3069220" cy="772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BBD6D0-9D13-CA45-B3CA-BA9ECDCA7B84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3217762" y="3910479"/>
            <a:ext cx="3069220" cy="1546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F6EA5E-317B-7C43-92AF-513C4EEA2DD9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3217762" y="3910479"/>
            <a:ext cx="3069220" cy="2333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824E7C4-B82D-6644-AE41-0E8ED0F1B358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3217762" y="3910479"/>
            <a:ext cx="3069220" cy="3107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93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09" y="2389836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디플로이먼트(디플로이먼트(Deployment))</a:t>
            </a:r>
          </a:p>
          <a:p>
            <a: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682344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3" y="2899123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서비스</a:t>
            </a:r>
          </a:p>
        </p:txBody>
      </p:sp>
    </p:spTree>
    <p:extLst>
      <p:ext uri="{BB962C8B-B14F-4D97-AF65-F5344CB8AC3E}">
        <p14:creationId xmlns:p14="http://schemas.microsoft.com/office/powerpoint/2010/main" val="48263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AAFAE5-8F4F-3740-9CD1-71D114F607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9EEEA5-1B1F-E149-A69E-C5BF33B45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35843"/>
            <a:ext cx="12618720" cy="1188851"/>
          </a:xfrm>
        </p:spPr>
        <p:txBody>
          <a:bodyPr/>
          <a:lstStyle/>
          <a:p>
            <a:r>
              <a:t>쿠버네티스 - 서비스s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DC95F2-1264-3A4A-8B49-5E4B481893E8}"/>
              </a:ext>
            </a:extLst>
          </p:cNvPr>
          <p:cNvSpPr/>
          <p:nvPr/>
        </p:nvSpPr>
        <p:spPr>
          <a:xfrm>
            <a:off x="189572" y="3667763"/>
            <a:ext cx="2165472" cy="63660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서비스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9DAF99-7510-3348-A94B-A131728A34DE}"/>
              </a:ext>
            </a:extLst>
          </p:cNvPr>
          <p:cNvSpPr/>
          <p:nvPr/>
        </p:nvSpPr>
        <p:spPr>
          <a:xfrm>
            <a:off x="3410043" y="1821685"/>
            <a:ext cx="1898013" cy="7926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클러스터IP(ClusterIP)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364871-FA3B-9143-8548-196C9302701C}"/>
              </a:ext>
            </a:extLst>
          </p:cNvPr>
          <p:cNvSpPr/>
          <p:nvPr/>
        </p:nvSpPr>
        <p:spPr>
          <a:xfrm>
            <a:off x="3410042" y="2810395"/>
            <a:ext cx="1898013" cy="7926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노드포트(NodePort)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8079FE-3088-EC4A-A889-8B5C400418A4}"/>
              </a:ext>
            </a:extLst>
          </p:cNvPr>
          <p:cNvSpPr/>
          <p:nvPr/>
        </p:nvSpPr>
        <p:spPr>
          <a:xfrm>
            <a:off x="3410043" y="3780548"/>
            <a:ext cx="1898013" cy="7926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로드밸런서(LoadBalancer)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494E1A-2019-2745-826D-58D6C2D7AAAA}"/>
              </a:ext>
            </a:extLst>
          </p:cNvPr>
          <p:cNvSpPr/>
          <p:nvPr/>
        </p:nvSpPr>
        <p:spPr>
          <a:xfrm>
            <a:off x="3387740" y="4825774"/>
            <a:ext cx="1898013" cy="7926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인그레스(Ingress)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A1F18C-0760-1143-A2B5-B145B68CB43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355044" y="2218030"/>
            <a:ext cx="1054999" cy="1768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BBD6D0-9D13-CA45-B3CA-BA9ECDCA7B84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2355044" y="3206740"/>
            <a:ext cx="1054998" cy="779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F6EA5E-317B-7C43-92AF-513C4EEA2DD9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2355044" y="3986067"/>
            <a:ext cx="1054999" cy="190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824E7C4-B82D-6644-AE41-0E8ED0F1B358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2355044" y="3986067"/>
            <a:ext cx="1032696" cy="1236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2B5B4C71-5D25-BE44-B17F-541A87FA5A0B}"/>
              </a:ext>
            </a:extLst>
          </p:cNvPr>
          <p:cNvSpPr/>
          <p:nvPr/>
        </p:nvSpPr>
        <p:spPr>
          <a:xfrm>
            <a:off x="3387739" y="5871000"/>
            <a:ext cx="1898013" cy="7926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externalName</a:t>
            </a:r>
            <a:endParaRPr lang="en-US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EE372F8-6F42-9B4F-98E6-1487211C91FB}"/>
              </a:ext>
            </a:extLst>
          </p:cNvPr>
          <p:cNvCxnSpPr>
            <a:cxnSpLocks/>
            <a:stCxn id="5" idx="3"/>
            <a:endCxn id="42" idx="1"/>
          </p:cNvCxnSpPr>
          <p:nvPr/>
        </p:nvCxnSpPr>
        <p:spPr>
          <a:xfrm>
            <a:off x="2355044" y="3986067"/>
            <a:ext cx="1032695" cy="2281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356210C3-BE24-0F43-850F-BB3EEA3E4898}"/>
              </a:ext>
            </a:extLst>
          </p:cNvPr>
          <p:cNvSpPr/>
          <p:nvPr/>
        </p:nvSpPr>
        <p:spPr>
          <a:xfrm>
            <a:off x="5904198" y="1821685"/>
            <a:ext cx="8324757" cy="7926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파드는 보통 컨테이너와 1:1 관계를 가집니다.</a:t>
            </a:r>
          </a:p>
          <a:p>
            <a:r>
              <a:t>스케일 업할 때는 새 파드를 생성하고, 스케일 다운할 때는 파드를 삭제합니다.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77CBF98-CE08-4049-A0E0-A18CF9CD1F28}"/>
              </a:ext>
            </a:extLst>
          </p:cNvPr>
          <p:cNvSpPr/>
          <p:nvPr/>
        </p:nvSpPr>
        <p:spPr>
          <a:xfrm>
            <a:off x="5904197" y="2810395"/>
            <a:ext cx="8324757" cy="7926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워커 노드 포트를 사용하여 k8s 클러스터 밖에서 애플리케이션에 접근할 때 사용합니다.</a:t>
            </a:r>
          </a:p>
          <a:p>
            <a:r>
              <a:t>(예: 브라우저에서 프론트엔드 앱에 접근)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30A250F-ED3A-C447-869B-6C047AC2C61C}"/>
              </a:ext>
            </a:extLst>
          </p:cNvPr>
          <p:cNvSpPr/>
          <p:nvPr/>
        </p:nvSpPr>
        <p:spPr>
          <a:xfrm>
            <a:off x="5904198" y="3780548"/>
            <a:ext cx="8324757" cy="7926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주로 클라우드 제공자의 로드밸런서 서비스와 연동하기 위해 사용합니다.</a:t>
            </a:r>
          </a:p>
          <a:p>
            <a:r>
              <a:t>(예: AWS Elastic Load Balancer)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9F2E42E-82C6-0941-A652-585EE30C6E85}"/>
              </a:ext>
            </a:extLst>
          </p:cNvPr>
          <p:cNvSpPr/>
          <p:nvPr/>
        </p:nvSpPr>
        <p:spPr>
          <a:xfrm>
            <a:off x="5881895" y="4825774"/>
            <a:ext cx="8324757" cy="7926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외부에서 제공되는 앱/서비스를 k8s 클러스터 안에서 접근할 때 사용합니다.</a:t>
            </a:r>
          </a:p>
          <a:p>
            <a:r>
              <a:t>(예: 클러스터 내부 앱이 AWS RDS DB 엔드포인트에 접근)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6FBAFCA-8F76-5448-9798-BAFA2773BA82}"/>
              </a:ext>
            </a:extLst>
          </p:cNvPr>
          <p:cNvSpPr/>
          <p:nvPr/>
        </p:nvSpPr>
        <p:spPr>
          <a:xfrm>
            <a:off x="5881894" y="5871000"/>
            <a:ext cx="8324757" cy="7926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k8s 클러스터 내부 애플리케이션 간 통신에 사용합니다.</a:t>
            </a:r>
          </a:p>
          <a:p>
            <a:r>
              <a:t>(예: 프론트엔드 애플리케이션이 백엔드 애플리케이션에 접근)</a:t>
            </a:r>
          </a:p>
        </p:txBody>
      </p:sp>
    </p:spTree>
    <p:extLst>
      <p:ext uri="{BB962C8B-B14F-4D97-AF65-F5344CB8AC3E}">
        <p14:creationId xmlns:p14="http://schemas.microsoft.com/office/powerpoint/2010/main" val="187626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  <p:bldP spid="13" grpId="0" animBg="1"/>
      <p:bldP spid="42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9AB853-DECF-4CD4-ADE3-06A7DE164B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7A17ED-AF7D-7748-8CF6-01CA24C45A0F}"/>
              </a:ext>
            </a:extLst>
          </p:cNvPr>
          <p:cNvSpPr/>
          <p:nvPr/>
        </p:nvSpPr>
        <p:spPr>
          <a:xfrm>
            <a:off x="2975624" y="334538"/>
            <a:ext cx="9491439" cy="72259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D2230DA-AFE0-3546-AB9B-5378C395E332}"/>
              </a:ext>
            </a:extLst>
          </p:cNvPr>
          <p:cNvSpPr/>
          <p:nvPr/>
        </p:nvSpPr>
        <p:spPr>
          <a:xfrm>
            <a:off x="3960224" y="1713767"/>
            <a:ext cx="7392870" cy="23910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44450">
            <a:solidFill>
              <a:schemeClr val="accent2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3D4F85E-9D2C-0940-BDC9-8F8E171FC14E}"/>
              </a:ext>
            </a:extLst>
          </p:cNvPr>
          <p:cNvSpPr/>
          <p:nvPr/>
        </p:nvSpPr>
        <p:spPr>
          <a:xfrm>
            <a:off x="4186123" y="1918678"/>
            <a:ext cx="6909344" cy="1868567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05D06DF-1884-C944-89C8-CCBBBF9EED0A}"/>
              </a:ext>
            </a:extLst>
          </p:cNvPr>
          <p:cNvSpPr/>
          <p:nvPr/>
        </p:nvSpPr>
        <p:spPr>
          <a:xfrm>
            <a:off x="4389510" y="2075431"/>
            <a:ext cx="1507579" cy="14180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E3EA7E-03B0-E144-81F3-22D12E48C118}"/>
              </a:ext>
            </a:extLst>
          </p:cNvPr>
          <p:cNvSpPr txBox="1"/>
          <p:nvPr/>
        </p:nvSpPr>
        <p:spPr>
          <a:xfrm>
            <a:off x="4829596" y="3145494"/>
            <a:ext cx="6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264C508-229B-C747-BA19-48BA61F6BFD8}"/>
              </a:ext>
            </a:extLst>
          </p:cNvPr>
          <p:cNvGrpSpPr/>
          <p:nvPr/>
        </p:nvGrpSpPr>
        <p:grpSpPr>
          <a:xfrm>
            <a:off x="4700896" y="2417066"/>
            <a:ext cx="914036" cy="704091"/>
            <a:chOff x="853440" y="4579716"/>
            <a:chExt cx="1006998" cy="82759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3AFD51D-56B3-B64A-B331-E9C00A2E9828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409AC6C-84CB-3043-A8A2-FC9AE182BFDC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2D83805-73E7-2643-9C6C-F098FFB156C7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3E32BAA-0766-E146-9D3B-64B88A2AA45E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8D0B744-30A3-F84D-9226-DEB01026089B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DC1685B-CBFB-644F-A3EC-8FA6C7686806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5CEDF5D-96F5-6240-8063-986C37B11A62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DCF550DE-9B89-E046-ABCA-F701CED698ED}"/>
              </a:ext>
            </a:extLst>
          </p:cNvPr>
          <p:cNvSpPr/>
          <p:nvPr/>
        </p:nvSpPr>
        <p:spPr>
          <a:xfrm>
            <a:off x="6837904" y="2120493"/>
            <a:ext cx="1507579" cy="14180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A7958B3-8B7C-2D4D-B384-F74A0DA28CE9}"/>
              </a:ext>
            </a:extLst>
          </p:cNvPr>
          <p:cNvSpPr txBox="1"/>
          <p:nvPr/>
        </p:nvSpPr>
        <p:spPr>
          <a:xfrm>
            <a:off x="7306524" y="3200121"/>
            <a:ext cx="6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F833091-C19A-A847-9014-7CF3246DB0A1}"/>
              </a:ext>
            </a:extLst>
          </p:cNvPr>
          <p:cNvGrpSpPr/>
          <p:nvPr/>
        </p:nvGrpSpPr>
        <p:grpSpPr>
          <a:xfrm>
            <a:off x="7149290" y="2462128"/>
            <a:ext cx="914036" cy="704091"/>
            <a:chOff x="853440" y="4579716"/>
            <a:chExt cx="1006998" cy="827590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E8C4CBF-7C82-6846-B5F6-044CF8316B2A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B52A171A-403E-124E-9B3D-4DCB618444D1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7D5E6EB-1293-114A-9448-D65F47529474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703BE3C-7D6C-5346-AB91-347A163E3CD5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7B290CA-1C4F-1B4A-A939-D812B7281F81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21E8F09-6831-8E42-94A0-42554BC35611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0FA2AC8-6275-A04F-AED7-F435548B995E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7EA7495D-CE80-3043-923F-39531E2EE61A}"/>
              </a:ext>
            </a:extLst>
          </p:cNvPr>
          <p:cNvSpPr txBox="1"/>
          <p:nvPr/>
        </p:nvSpPr>
        <p:spPr>
          <a:xfrm>
            <a:off x="6887375" y="3474558"/>
            <a:ext cx="1239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레플리카셋(ReplicaSet)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84BEB6B-E8D7-9642-B219-FAB31F03BD56}"/>
              </a:ext>
            </a:extLst>
          </p:cNvPr>
          <p:cNvSpPr txBox="1"/>
          <p:nvPr/>
        </p:nvSpPr>
        <p:spPr>
          <a:xfrm>
            <a:off x="6149179" y="3747853"/>
            <a:ext cx="3084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디플로이먼트(Deployment) (app=frontend)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F8BC8E-5A03-E649-A931-1EFF99DE9F4D}"/>
              </a:ext>
            </a:extLst>
          </p:cNvPr>
          <p:cNvSpPr/>
          <p:nvPr/>
        </p:nvSpPr>
        <p:spPr>
          <a:xfrm>
            <a:off x="3960223" y="1044374"/>
            <a:ext cx="7412425" cy="42075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프론트엔드 앱 – NodePort 또는 LoadBalancer 또는 Ingress 서비스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61A81CD-7230-0C48-9141-20450FF62907}"/>
              </a:ext>
            </a:extLst>
          </p:cNvPr>
          <p:cNvSpPr/>
          <p:nvPr/>
        </p:nvSpPr>
        <p:spPr>
          <a:xfrm>
            <a:off x="3979777" y="4967509"/>
            <a:ext cx="7392870" cy="23910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44450">
            <a:solidFill>
              <a:schemeClr val="accent2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B6549F7-C7BA-9C4F-BB9A-FA42032C75EF}"/>
              </a:ext>
            </a:extLst>
          </p:cNvPr>
          <p:cNvSpPr/>
          <p:nvPr/>
        </p:nvSpPr>
        <p:spPr>
          <a:xfrm>
            <a:off x="4205676" y="5172420"/>
            <a:ext cx="6889791" cy="1868567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6A62383-1950-E543-B7E6-46E142487E81}"/>
              </a:ext>
            </a:extLst>
          </p:cNvPr>
          <p:cNvSpPr/>
          <p:nvPr/>
        </p:nvSpPr>
        <p:spPr>
          <a:xfrm>
            <a:off x="4409063" y="5329173"/>
            <a:ext cx="1507579" cy="14180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14431EB-8A42-0D4D-A082-19E87A603CCC}"/>
              </a:ext>
            </a:extLst>
          </p:cNvPr>
          <p:cNvSpPr txBox="1"/>
          <p:nvPr/>
        </p:nvSpPr>
        <p:spPr>
          <a:xfrm>
            <a:off x="4849149" y="6399236"/>
            <a:ext cx="6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파드(Pod)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210664B-6889-314B-AAC7-A5BAD662090E}"/>
              </a:ext>
            </a:extLst>
          </p:cNvPr>
          <p:cNvSpPr/>
          <p:nvPr/>
        </p:nvSpPr>
        <p:spPr>
          <a:xfrm>
            <a:off x="6794829" y="5317059"/>
            <a:ext cx="1507579" cy="14180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5098A4E-DA1E-8B48-8813-A766EFCE7D74}"/>
              </a:ext>
            </a:extLst>
          </p:cNvPr>
          <p:cNvSpPr txBox="1"/>
          <p:nvPr/>
        </p:nvSpPr>
        <p:spPr>
          <a:xfrm>
            <a:off x="7263449" y="6396687"/>
            <a:ext cx="6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파드(Pod)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5295B44-C6E8-E144-8424-F81617108F73}"/>
              </a:ext>
            </a:extLst>
          </p:cNvPr>
          <p:cNvSpPr txBox="1"/>
          <p:nvPr/>
        </p:nvSpPr>
        <p:spPr>
          <a:xfrm>
            <a:off x="6864065" y="6718837"/>
            <a:ext cx="1239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레플리카셋(ReplicaSet)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0FDFFDF-93C8-FB40-9496-C5D3AB858673}"/>
              </a:ext>
            </a:extLst>
          </p:cNvPr>
          <p:cNvSpPr txBox="1"/>
          <p:nvPr/>
        </p:nvSpPr>
        <p:spPr>
          <a:xfrm>
            <a:off x="6071696" y="7012867"/>
            <a:ext cx="3084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디플로이먼트(Deployment) (app=Backend)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324D1B4-F075-0849-B8E6-9D492D292D07}"/>
              </a:ext>
            </a:extLst>
          </p:cNvPr>
          <p:cNvSpPr/>
          <p:nvPr/>
        </p:nvSpPr>
        <p:spPr>
          <a:xfrm>
            <a:off x="3979776" y="4298116"/>
            <a:ext cx="7392871" cy="42075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백엔드 앱 - ClusterIP 서비스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E82AC940-FE83-9F41-BB74-C17C28E2919C}"/>
              </a:ext>
            </a:extLst>
          </p:cNvPr>
          <p:cNvGrpSpPr/>
          <p:nvPr/>
        </p:nvGrpSpPr>
        <p:grpSpPr>
          <a:xfrm>
            <a:off x="4639799" y="5522990"/>
            <a:ext cx="1006998" cy="827590"/>
            <a:chOff x="2217322" y="4152694"/>
            <a:chExt cx="1006998" cy="827590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A8A2FCB-5968-DA46-9C2F-6D2421C511CE}"/>
                </a:ext>
              </a:extLst>
            </p:cNvPr>
            <p:cNvSpPr/>
            <p:nvPr/>
          </p:nvSpPr>
          <p:spPr>
            <a:xfrm>
              <a:off x="2217322" y="4152694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01B1FFC-2DF5-7845-9E49-21714FA43EF1}"/>
                </a:ext>
              </a:extLst>
            </p:cNvPr>
            <p:cNvCxnSpPr>
              <a:cxnSpLocks/>
            </p:cNvCxnSpPr>
            <p:nvPr/>
          </p:nvCxnSpPr>
          <p:spPr>
            <a:xfrm>
              <a:off x="2414092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584BE37-6DE9-3846-8A0C-9F6FD129D647}"/>
                </a:ext>
              </a:extLst>
            </p:cNvPr>
            <p:cNvCxnSpPr>
              <a:cxnSpLocks/>
            </p:cNvCxnSpPr>
            <p:nvPr/>
          </p:nvCxnSpPr>
          <p:spPr>
            <a:xfrm>
              <a:off x="25684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0CC1207-4215-3749-9604-19554D150123}"/>
                </a:ext>
              </a:extLst>
            </p:cNvPr>
            <p:cNvCxnSpPr>
              <a:cxnSpLocks/>
            </p:cNvCxnSpPr>
            <p:nvPr/>
          </p:nvCxnSpPr>
          <p:spPr>
            <a:xfrm>
              <a:off x="27208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2E50CA8-8D3B-2E45-829C-17886FA0BB9C}"/>
                </a:ext>
              </a:extLst>
            </p:cNvPr>
            <p:cNvCxnSpPr>
              <a:cxnSpLocks/>
            </p:cNvCxnSpPr>
            <p:nvPr/>
          </p:nvCxnSpPr>
          <p:spPr>
            <a:xfrm>
              <a:off x="28732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4193FA2D-BE11-7F42-BB24-F0B5DD8F9939}"/>
                </a:ext>
              </a:extLst>
            </p:cNvPr>
            <p:cNvCxnSpPr>
              <a:cxnSpLocks/>
            </p:cNvCxnSpPr>
            <p:nvPr/>
          </p:nvCxnSpPr>
          <p:spPr>
            <a:xfrm>
              <a:off x="30256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3CA3D6F-E151-0D42-AB77-C29E80C1B206}"/>
                </a:ext>
              </a:extLst>
            </p:cNvPr>
            <p:cNvSpPr txBox="1"/>
            <p:nvPr/>
          </p:nvSpPr>
          <p:spPr>
            <a:xfrm>
              <a:off x="2552989" y="4366434"/>
              <a:ext cx="347240" cy="40011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B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D4F289E-7B3A-6D40-A06D-F64475ACDF27}"/>
              </a:ext>
            </a:extLst>
          </p:cNvPr>
          <p:cNvGrpSpPr/>
          <p:nvPr/>
        </p:nvGrpSpPr>
        <p:grpSpPr>
          <a:xfrm>
            <a:off x="7035776" y="5501837"/>
            <a:ext cx="1006998" cy="827590"/>
            <a:chOff x="2217322" y="4152694"/>
            <a:chExt cx="1006998" cy="827590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D0F1BB3-1A0C-3144-B2FF-EB559DE5CB0A}"/>
                </a:ext>
              </a:extLst>
            </p:cNvPr>
            <p:cNvSpPr/>
            <p:nvPr/>
          </p:nvSpPr>
          <p:spPr>
            <a:xfrm>
              <a:off x="2217322" y="4152694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E9945A0-F8BF-F941-810C-8566DA497F08}"/>
                </a:ext>
              </a:extLst>
            </p:cNvPr>
            <p:cNvCxnSpPr>
              <a:cxnSpLocks/>
            </p:cNvCxnSpPr>
            <p:nvPr/>
          </p:nvCxnSpPr>
          <p:spPr>
            <a:xfrm>
              <a:off x="2414092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3357B06-97CE-3946-A07D-D37A103E68A5}"/>
                </a:ext>
              </a:extLst>
            </p:cNvPr>
            <p:cNvCxnSpPr>
              <a:cxnSpLocks/>
            </p:cNvCxnSpPr>
            <p:nvPr/>
          </p:nvCxnSpPr>
          <p:spPr>
            <a:xfrm>
              <a:off x="25684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9AAE7EDF-AFCD-D244-9CF7-D2CEA85E254C}"/>
                </a:ext>
              </a:extLst>
            </p:cNvPr>
            <p:cNvCxnSpPr>
              <a:cxnSpLocks/>
            </p:cNvCxnSpPr>
            <p:nvPr/>
          </p:nvCxnSpPr>
          <p:spPr>
            <a:xfrm>
              <a:off x="27208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B074BDB0-D89A-F74E-B81A-F0E967B04C46}"/>
                </a:ext>
              </a:extLst>
            </p:cNvPr>
            <p:cNvCxnSpPr>
              <a:cxnSpLocks/>
            </p:cNvCxnSpPr>
            <p:nvPr/>
          </p:nvCxnSpPr>
          <p:spPr>
            <a:xfrm>
              <a:off x="28732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8E940FF-674C-324B-92C1-6FF045AFD22C}"/>
                </a:ext>
              </a:extLst>
            </p:cNvPr>
            <p:cNvCxnSpPr>
              <a:cxnSpLocks/>
            </p:cNvCxnSpPr>
            <p:nvPr/>
          </p:nvCxnSpPr>
          <p:spPr>
            <a:xfrm>
              <a:off x="30256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95376C4-E8E6-E74D-8FFF-115B4570C245}"/>
                </a:ext>
              </a:extLst>
            </p:cNvPr>
            <p:cNvSpPr txBox="1"/>
            <p:nvPr/>
          </p:nvSpPr>
          <p:spPr>
            <a:xfrm>
              <a:off x="2552989" y="4366434"/>
              <a:ext cx="347240" cy="40011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B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E3A8ED8-3B11-3E4C-BAE3-4058495ACE9F}"/>
              </a:ext>
            </a:extLst>
          </p:cNvPr>
          <p:cNvGrpSpPr/>
          <p:nvPr/>
        </p:nvGrpSpPr>
        <p:grpSpPr>
          <a:xfrm>
            <a:off x="380904" y="932531"/>
            <a:ext cx="2061290" cy="644442"/>
            <a:chOff x="7124887" y="2666089"/>
            <a:chExt cx="2061290" cy="644442"/>
          </a:xfrm>
        </p:grpSpPr>
        <p:pic>
          <p:nvPicPr>
            <p:cNvPr id="175" name="Picture 2" descr="User icon">
              <a:extLst>
                <a:ext uri="{FF2B5EF4-FFF2-40B4-BE49-F238E27FC236}">
                  <a16:creationId xmlns:a16="http://schemas.microsoft.com/office/drawing/2014/main" id="{B1ABD17D-E7D4-A74D-A33E-F22D171460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4887" y="2717341"/>
              <a:ext cx="501334" cy="501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0EF17FB-E209-754F-957C-E64483CB4CB1}"/>
                </a:ext>
              </a:extLst>
            </p:cNvPr>
            <p:cNvSpPr/>
            <p:nvPr/>
          </p:nvSpPr>
          <p:spPr>
            <a:xfrm>
              <a:off x="7124888" y="2666089"/>
              <a:ext cx="2061289" cy="64444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78" name="Picture 2" descr="User icon">
              <a:extLst>
                <a:ext uri="{FF2B5EF4-FFF2-40B4-BE49-F238E27FC236}">
                  <a16:creationId xmlns:a16="http://schemas.microsoft.com/office/drawing/2014/main" id="{7EACD299-21AB-A24E-AFC4-917D77DC01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6221" y="2731231"/>
              <a:ext cx="501334" cy="501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0" name="Picture 2" descr="User icon">
              <a:extLst>
                <a:ext uri="{FF2B5EF4-FFF2-40B4-BE49-F238E27FC236}">
                  <a16:creationId xmlns:a16="http://schemas.microsoft.com/office/drawing/2014/main" id="{EC0D1071-D2BD-F045-99CB-94F53572CA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9651" y="2718254"/>
              <a:ext cx="501334" cy="501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2" name="Picture 2" descr="User icon">
              <a:extLst>
                <a:ext uri="{FF2B5EF4-FFF2-40B4-BE49-F238E27FC236}">
                  <a16:creationId xmlns:a16="http://schemas.microsoft.com/office/drawing/2014/main" id="{D18B369E-B387-F948-804A-026E14C056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0985" y="2731231"/>
              <a:ext cx="501334" cy="501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5" name="Rectangle 184">
            <a:extLst>
              <a:ext uri="{FF2B5EF4-FFF2-40B4-BE49-F238E27FC236}">
                <a16:creationId xmlns:a16="http://schemas.microsoft.com/office/drawing/2014/main" id="{CD581A37-1DEF-1842-9768-3D019706EE09}"/>
              </a:ext>
            </a:extLst>
          </p:cNvPr>
          <p:cNvSpPr/>
          <p:nvPr/>
        </p:nvSpPr>
        <p:spPr>
          <a:xfrm>
            <a:off x="9223550" y="5334832"/>
            <a:ext cx="1507579" cy="14180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CAA91F9-0D0C-D748-81E3-203DDA8EAE8D}"/>
              </a:ext>
            </a:extLst>
          </p:cNvPr>
          <p:cNvSpPr txBox="1"/>
          <p:nvPr/>
        </p:nvSpPr>
        <p:spPr>
          <a:xfrm>
            <a:off x="9692170" y="6414460"/>
            <a:ext cx="6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94087F22-F011-A843-B59C-CEB446F02344}"/>
              </a:ext>
            </a:extLst>
          </p:cNvPr>
          <p:cNvGrpSpPr/>
          <p:nvPr/>
        </p:nvGrpSpPr>
        <p:grpSpPr>
          <a:xfrm>
            <a:off x="9464497" y="5519610"/>
            <a:ext cx="1006998" cy="827590"/>
            <a:chOff x="2217322" y="4152694"/>
            <a:chExt cx="1006998" cy="827590"/>
          </a:xfrm>
        </p:grpSpPr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1E4A4FFB-D9FD-1341-BDB1-8646D52AEA2E}"/>
                </a:ext>
              </a:extLst>
            </p:cNvPr>
            <p:cNvSpPr/>
            <p:nvPr/>
          </p:nvSpPr>
          <p:spPr>
            <a:xfrm>
              <a:off x="2217322" y="4152694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84A4F1C-55FF-2946-8CE4-6FB821CFCB59}"/>
                </a:ext>
              </a:extLst>
            </p:cNvPr>
            <p:cNvCxnSpPr>
              <a:cxnSpLocks/>
            </p:cNvCxnSpPr>
            <p:nvPr/>
          </p:nvCxnSpPr>
          <p:spPr>
            <a:xfrm>
              <a:off x="2414092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598A61D6-5173-C949-83E2-0836EA6387BC}"/>
                </a:ext>
              </a:extLst>
            </p:cNvPr>
            <p:cNvCxnSpPr>
              <a:cxnSpLocks/>
            </p:cNvCxnSpPr>
            <p:nvPr/>
          </p:nvCxnSpPr>
          <p:spPr>
            <a:xfrm>
              <a:off x="25684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099B318-11F8-B44C-ABB4-55CF682A994D}"/>
                </a:ext>
              </a:extLst>
            </p:cNvPr>
            <p:cNvCxnSpPr>
              <a:cxnSpLocks/>
            </p:cNvCxnSpPr>
            <p:nvPr/>
          </p:nvCxnSpPr>
          <p:spPr>
            <a:xfrm>
              <a:off x="27208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8532812-695D-1F4F-AF52-A54F434F7DDB}"/>
                </a:ext>
              </a:extLst>
            </p:cNvPr>
            <p:cNvCxnSpPr>
              <a:cxnSpLocks/>
            </p:cNvCxnSpPr>
            <p:nvPr/>
          </p:nvCxnSpPr>
          <p:spPr>
            <a:xfrm>
              <a:off x="28732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1784E9F9-4238-5F42-869E-37F12B95FB50}"/>
                </a:ext>
              </a:extLst>
            </p:cNvPr>
            <p:cNvCxnSpPr>
              <a:cxnSpLocks/>
            </p:cNvCxnSpPr>
            <p:nvPr/>
          </p:nvCxnSpPr>
          <p:spPr>
            <a:xfrm>
              <a:off x="30256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70F019BE-823C-814F-B396-D3B34162BAB4}"/>
                </a:ext>
              </a:extLst>
            </p:cNvPr>
            <p:cNvSpPr txBox="1"/>
            <p:nvPr/>
          </p:nvSpPr>
          <p:spPr>
            <a:xfrm>
              <a:off x="2552989" y="4366434"/>
              <a:ext cx="347240" cy="40011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B</a:t>
              </a:r>
            </a:p>
          </p:txBody>
        </p:sp>
      </p:grpSp>
      <p:sp>
        <p:nvSpPr>
          <p:cNvPr id="197" name="Rectangle 196">
            <a:extLst>
              <a:ext uri="{FF2B5EF4-FFF2-40B4-BE49-F238E27FC236}">
                <a16:creationId xmlns:a16="http://schemas.microsoft.com/office/drawing/2014/main" id="{6E07B25A-5A13-A74A-94EF-CB59790B47DB}"/>
              </a:ext>
            </a:extLst>
          </p:cNvPr>
          <p:cNvSpPr/>
          <p:nvPr/>
        </p:nvSpPr>
        <p:spPr>
          <a:xfrm>
            <a:off x="9286298" y="2116872"/>
            <a:ext cx="1507579" cy="14180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060659C8-7D0D-FE4A-8501-95E4CFA5A3A0}"/>
              </a:ext>
            </a:extLst>
          </p:cNvPr>
          <p:cNvSpPr txBox="1"/>
          <p:nvPr/>
        </p:nvSpPr>
        <p:spPr>
          <a:xfrm>
            <a:off x="9754918" y="3196500"/>
            <a:ext cx="6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EE105E5A-8537-9C4D-8BBC-5FFAC83A2929}"/>
              </a:ext>
            </a:extLst>
          </p:cNvPr>
          <p:cNvGrpSpPr/>
          <p:nvPr/>
        </p:nvGrpSpPr>
        <p:grpSpPr>
          <a:xfrm>
            <a:off x="9597684" y="2458507"/>
            <a:ext cx="914036" cy="704091"/>
            <a:chOff x="853440" y="4579716"/>
            <a:chExt cx="1006998" cy="827590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9B488E04-7414-0842-B577-93F37C59FD10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D9A791F7-4A7D-374A-896A-A3CC9B0A0A9C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14093AD4-5124-894C-A759-AE458A4EED99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2C6D486-BE3F-3340-BD8F-7C8562C8FEE4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86D7E5D4-773F-C841-B3B6-016160782AB2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A4CC471A-F60F-A044-8EE2-062FCA5CEE18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A67A66C-F99C-2040-9C7D-07A34AC41D20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BEF79D6-A049-CB4D-A7A3-9E0FD1F23425}"/>
              </a:ext>
            </a:extLst>
          </p:cNvPr>
          <p:cNvSpPr txBox="1"/>
          <p:nvPr/>
        </p:nvSpPr>
        <p:spPr>
          <a:xfrm>
            <a:off x="9278751" y="356363"/>
            <a:ext cx="24010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쿠버네티스 클러스터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F9C11B-4DF5-1C42-9052-9D4B1A2CF113}"/>
              </a:ext>
            </a:extLst>
          </p:cNvPr>
          <p:cNvCxnSpPr>
            <a:stCxn id="182" idx="3"/>
            <a:endCxn id="111" idx="1"/>
          </p:cNvCxnSpPr>
          <p:nvPr/>
        </p:nvCxnSpPr>
        <p:spPr>
          <a:xfrm>
            <a:off x="2418336" y="1248340"/>
            <a:ext cx="1541887" cy="6413"/>
          </a:xfrm>
          <a:prstGeom prst="straightConnector1">
            <a:avLst/>
          </a:prstGeom>
          <a:ln w="3175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C66099B-89CC-194D-B955-F7C8BB9CD367}"/>
              </a:ext>
            </a:extLst>
          </p:cNvPr>
          <p:cNvCxnSpPr>
            <a:stCxn id="111" idx="2"/>
            <a:endCxn id="77" idx="0"/>
          </p:cNvCxnSpPr>
          <p:nvPr/>
        </p:nvCxnSpPr>
        <p:spPr>
          <a:xfrm flipH="1">
            <a:off x="7656659" y="1465131"/>
            <a:ext cx="9777" cy="248636"/>
          </a:xfrm>
          <a:prstGeom prst="straightConnector1">
            <a:avLst/>
          </a:prstGeom>
          <a:ln w="317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92390946-6875-7745-8D86-6FF7187844AF}"/>
              </a:ext>
            </a:extLst>
          </p:cNvPr>
          <p:cNvCxnSpPr/>
          <p:nvPr/>
        </p:nvCxnSpPr>
        <p:spPr>
          <a:xfrm flipH="1">
            <a:off x="7577058" y="4082289"/>
            <a:ext cx="9777" cy="248636"/>
          </a:xfrm>
          <a:prstGeom prst="straightConnector1">
            <a:avLst/>
          </a:prstGeom>
          <a:ln w="317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A15D92BB-44A8-0441-B90A-BAE71C53FCC5}"/>
              </a:ext>
            </a:extLst>
          </p:cNvPr>
          <p:cNvCxnSpPr/>
          <p:nvPr/>
        </p:nvCxnSpPr>
        <p:spPr>
          <a:xfrm flipH="1">
            <a:off x="7561818" y="4714609"/>
            <a:ext cx="9777" cy="248636"/>
          </a:xfrm>
          <a:prstGeom prst="straightConnector1">
            <a:avLst/>
          </a:prstGeom>
          <a:ln w="317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18CA36F-CBCF-DB41-861D-EFB3AB540BCF}"/>
              </a:ext>
            </a:extLst>
          </p:cNvPr>
          <p:cNvSpPr/>
          <p:nvPr/>
        </p:nvSpPr>
        <p:spPr>
          <a:xfrm rot="16200000">
            <a:off x="10434116" y="5662977"/>
            <a:ext cx="3069968" cy="42075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 – ExternalName  서비스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6149F45-E11D-1347-B9D9-BF010C3E4743}"/>
              </a:ext>
            </a:extLst>
          </p:cNvPr>
          <p:cNvSpPr/>
          <p:nvPr/>
        </p:nvSpPr>
        <p:spPr>
          <a:xfrm>
            <a:off x="12853137" y="5119264"/>
            <a:ext cx="1709185" cy="15114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t>AWS 클라우드</a:t>
            </a:r>
          </a:p>
        </p:txBody>
      </p:sp>
      <p:pic>
        <p:nvPicPr>
          <p:cNvPr id="102" name="Graphic 101">
            <a:extLst>
              <a:ext uri="{FF2B5EF4-FFF2-40B4-BE49-F238E27FC236}">
                <a16:creationId xmlns:a16="http://schemas.microsoft.com/office/drawing/2014/main" id="{64B4B9C1-B880-4B49-AC48-05D73A28F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53136" y="5119264"/>
            <a:ext cx="277535" cy="277535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C8C85A9E-B80F-D049-8D3E-A96A498ED4F4}"/>
              </a:ext>
            </a:extLst>
          </p:cNvPr>
          <p:cNvSpPr txBox="1"/>
          <p:nvPr/>
        </p:nvSpPr>
        <p:spPr>
          <a:xfrm>
            <a:off x="12866447" y="6265221"/>
            <a:ext cx="1757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AWS RDS 데이터베이스</a:t>
            </a:r>
          </a:p>
        </p:txBody>
      </p:sp>
      <p:pic>
        <p:nvPicPr>
          <p:cNvPr id="104" name="Graphic 103">
            <a:extLst>
              <a:ext uri="{FF2B5EF4-FFF2-40B4-BE49-F238E27FC236}">
                <a16:creationId xmlns:a16="http://schemas.microsoft.com/office/drawing/2014/main" id="{A064A23E-ED47-3742-8A93-4F67566097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49630" y="5495117"/>
            <a:ext cx="711200" cy="7112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35BAB2-44A8-8C49-A321-61A7E4C0EFBD}"/>
              </a:ext>
            </a:extLst>
          </p:cNvPr>
          <p:cNvCxnSpPr>
            <a:cxnSpLocks/>
            <a:endCxn id="210" idx="0"/>
          </p:cNvCxnSpPr>
          <p:nvPr/>
        </p:nvCxnSpPr>
        <p:spPr>
          <a:xfrm>
            <a:off x="11432491" y="5873355"/>
            <a:ext cx="326231" cy="1"/>
          </a:xfrm>
          <a:prstGeom prst="straightConnector1">
            <a:avLst/>
          </a:prstGeom>
          <a:ln w="317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88A58EA-4ED9-084C-9240-D669C1087FAB}"/>
              </a:ext>
            </a:extLst>
          </p:cNvPr>
          <p:cNvCxnSpPr>
            <a:cxnSpLocks/>
            <a:stCxn id="210" idx="2"/>
            <a:endCxn id="93" idx="1"/>
          </p:cNvCxnSpPr>
          <p:nvPr/>
        </p:nvCxnSpPr>
        <p:spPr>
          <a:xfrm>
            <a:off x="12179479" y="5873356"/>
            <a:ext cx="673658" cy="1644"/>
          </a:xfrm>
          <a:prstGeom prst="straightConnector1">
            <a:avLst/>
          </a:prstGeom>
          <a:ln w="317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808C65B-A7D6-C943-A476-8DCB85854F5C}"/>
              </a:ext>
            </a:extLst>
          </p:cNvPr>
          <p:cNvSpPr txBox="1"/>
          <p:nvPr/>
        </p:nvSpPr>
        <p:spPr>
          <a:xfrm>
            <a:off x="895003" y="1506614"/>
            <a:ext cx="765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사용자</a:t>
            </a:r>
          </a:p>
        </p:txBody>
      </p:sp>
      <p:sp>
        <p:nvSpPr>
          <p:cNvPr id="129" name="Title 3">
            <a:extLst>
              <a:ext uri="{FF2B5EF4-FFF2-40B4-BE49-F238E27FC236}">
                <a16:creationId xmlns:a16="http://schemas.microsoft.com/office/drawing/2014/main" id="{B2DCD4D7-7CB9-214F-B60B-34B5DD81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4285" y="6718837"/>
            <a:ext cx="2596802" cy="794985"/>
          </a:xfrm>
        </p:spPr>
        <p:txBody>
          <a:bodyPr>
            <a:normAutofit fontScale="90000"/>
          </a:bodyPr>
          <a:lstStyle/>
          <a:p>
            <a:r>
              <a:t>서비스</a:t>
            </a:r>
          </a:p>
        </p:txBody>
      </p:sp>
    </p:spTree>
    <p:extLst>
      <p:ext uri="{BB962C8B-B14F-4D97-AF65-F5344CB8AC3E}">
        <p14:creationId xmlns:p14="http://schemas.microsoft.com/office/powerpoint/2010/main" val="298153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7" grpId="0" animBg="1"/>
      <p:bldP spid="78" grpId="0" animBg="1"/>
      <p:bldP spid="84" grpId="0" animBg="1"/>
      <p:bldP spid="85" grpId="0"/>
      <p:bldP spid="96" grpId="0" animBg="1"/>
      <p:bldP spid="97" grpId="0"/>
      <p:bldP spid="109" grpId="0"/>
      <p:bldP spid="110" grpId="0"/>
      <p:bldP spid="111" grpId="0" animBg="1"/>
      <p:bldP spid="112" grpId="0" animBg="1"/>
      <p:bldP spid="113" grpId="0" animBg="1"/>
      <p:bldP spid="114" grpId="0" animBg="1"/>
      <p:bldP spid="115" grpId="0"/>
      <p:bldP spid="116" grpId="0" animBg="1"/>
      <p:bldP spid="117" grpId="0"/>
      <p:bldP spid="118" grpId="0"/>
      <p:bldP spid="119" grpId="0"/>
      <p:bldP spid="120" grpId="0" animBg="1"/>
      <p:bldP spid="185" grpId="0" animBg="1"/>
      <p:bldP spid="186" grpId="0"/>
      <p:bldP spid="197" grpId="0" animBg="1"/>
      <p:bldP spid="198" grpId="0"/>
      <p:bldP spid="33" grpId="0"/>
      <p:bldP spid="210" grpId="0" animBg="1"/>
      <p:bldP spid="93" grpId="0" animBg="1"/>
      <p:bldP spid="103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09" y="2389836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서비스</a:t>
            </a:r>
          </a:p>
          <a:p>
            <a: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801757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9AB853-DECF-4CD4-ADE3-06A7DE164B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7A17ED-AF7D-7748-8CF6-01CA24C45A0F}"/>
              </a:ext>
            </a:extLst>
          </p:cNvPr>
          <p:cNvSpPr/>
          <p:nvPr/>
        </p:nvSpPr>
        <p:spPr>
          <a:xfrm>
            <a:off x="4404732" y="334538"/>
            <a:ext cx="5051501" cy="72259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D2230DA-AFE0-3546-AB9B-5378C395E332}"/>
              </a:ext>
            </a:extLst>
          </p:cNvPr>
          <p:cNvSpPr/>
          <p:nvPr/>
        </p:nvSpPr>
        <p:spPr>
          <a:xfrm>
            <a:off x="4850780" y="1713767"/>
            <a:ext cx="4286354" cy="23910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44450">
            <a:solidFill>
              <a:schemeClr val="accent2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3D4F85E-9D2C-0940-BDC9-8F8E171FC14E}"/>
              </a:ext>
            </a:extLst>
          </p:cNvPr>
          <p:cNvSpPr/>
          <p:nvPr/>
        </p:nvSpPr>
        <p:spPr>
          <a:xfrm>
            <a:off x="4998056" y="1918678"/>
            <a:ext cx="3907934" cy="1868567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CF550DE-9B89-E046-ABCA-F701CED698ED}"/>
              </a:ext>
            </a:extLst>
          </p:cNvPr>
          <p:cNvSpPr/>
          <p:nvPr/>
        </p:nvSpPr>
        <p:spPr>
          <a:xfrm>
            <a:off x="6320912" y="2097451"/>
            <a:ext cx="1507579" cy="14180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A7958B3-8B7C-2D4D-B384-F74A0DA28CE9}"/>
              </a:ext>
            </a:extLst>
          </p:cNvPr>
          <p:cNvSpPr txBox="1"/>
          <p:nvPr/>
        </p:nvSpPr>
        <p:spPr>
          <a:xfrm>
            <a:off x="6789532" y="3177079"/>
            <a:ext cx="6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파드(Pod)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F833091-C19A-A847-9014-7CF3246DB0A1}"/>
              </a:ext>
            </a:extLst>
          </p:cNvPr>
          <p:cNvGrpSpPr/>
          <p:nvPr/>
        </p:nvGrpSpPr>
        <p:grpSpPr>
          <a:xfrm>
            <a:off x="6632298" y="2439086"/>
            <a:ext cx="914036" cy="704091"/>
            <a:chOff x="853440" y="4579716"/>
            <a:chExt cx="1006998" cy="827590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E8C4CBF-7C82-6846-B5F6-044CF8316B2A}"/>
                </a:ext>
              </a:extLst>
            </p:cNvPr>
            <p:cNvSpPr/>
            <p:nvPr/>
          </p:nvSpPr>
          <p:spPr>
            <a:xfrm>
              <a:off x="853440" y="4579716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B52A171A-403E-124E-9B3D-4DCB618444D1}"/>
                </a:ext>
              </a:extLst>
            </p:cNvPr>
            <p:cNvCxnSpPr>
              <a:cxnSpLocks/>
            </p:cNvCxnSpPr>
            <p:nvPr/>
          </p:nvCxnSpPr>
          <p:spPr>
            <a:xfrm>
              <a:off x="1050210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7D5E6EB-1293-114A-9448-D65F47529474}"/>
                </a:ext>
              </a:extLst>
            </p:cNvPr>
            <p:cNvCxnSpPr>
              <a:cxnSpLocks/>
            </p:cNvCxnSpPr>
            <p:nvPr/>
          </p:nvCxnSpPr>
          <p:spPr>
            <a:xfrm>
              <a:off x="12045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703BE3C-7D6C-5346-AB91-347A163E3CD5}"/>
                </a:ext>
              </a:extLst>
            </p:cNvPr>
            <p:cNvCxnSpPr>
              <a:cxnSpLocks/>
            </p:cNvCxnSpPr>
            <p:nvPr/>
          </p:nvCxnSpPr>
          <p:spPr>
            <a:xfrm>
              <a:off x="13569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7B290CA-1C4F-1B4A-A939-D812B7281F81}"/>
                </a:ext>
              </a:extLst>
            </p:cNvPr>
            <p:cNvCxnSpPr>
              <a:cxnSpLocks/>
            </p:cNvCxnSpPr>
            <p:nvPr/>
          </p:nvCxnSpPr>
          <p:spPr>
            <a:xfrm>
              <a:off x="15093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21E8F09-6831-8E42-94A0-42554BC35611}"/>
                </a:ext>
              </a:extLst>
            </p:cNvPr>
            <p:cNvCxnSpPr>
              <a:cxnSpLocks/>
            </p:cNvCxnSpPr>
            <p:nvPr/>
          </p:nvCxnSpPr>
          <p:spPr>
            <a:xfrm>
              <a:off x="1661739" y="4689676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0FA2AC8-6275-A04F-AED7-F435548B995E}"/>
                </a:ext>
              </a:extLst>
            </p:cNvPr>
            <p:cNvSpPr txBox="1"/>
            <p:nvPr/>
          </p:nvSpPr>
          <p:spPr>
            <a:xfrm>
              <a:off x="1169045" y="4778598"/>
              <a:ext cx="321005" cy="400110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N</a:t>
              </a: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7EA7495D-CE80-3043-923F-39531E2EE61A}"/>
              </a:ext>
            </a:extLst>
          </p:cNvPr>
          <p:cNvSpPr txBox="1"/>
          <p:nvPr/>
        </p:nvSpPr>
        <p:spPr>
          <a:xfrm>
            <a:off x="6370383" y="3451516"/>
            <a:ext cx="1239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레플리카셋(ReplicaSet)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84BEB6B-E8D7-9642-B219-FAB31F03BD56}"/>
              </a:ext>
            </a:extLst>
          </p:cNvPr>
          <p:cNvSpPr txBox="1"/>
          <p:nvPr/>
        </p:nvSpPr>
        <p:spPr>
          <a:xfrm>
            <a:off x="5714221" y="3770088"/>
            <a:ext cx="3084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디플로이먼트(Deployment) (app=frontend)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F8BC8E-5A03-E649-A931-1EFF99DE9F4D}"/>
              </a:ext>
            </a:extLst>
          </p:cNvPr>
          <p:cNvSpPr/>
          <p:nvPr/>
        </p:nvSpPr>
        <p:spPr>
          <a:xfrm>
            <a:off x="4831275" y="1044374"/>
            <a:ext cx="4325411" cy="42075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프론트엔드 앱 – NodePort 서비스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61A81CD-7230-0C48-9141-20450FF62907}"/>
              </a:ext>
            </a:extLst>
          </p:cNvPr>
          <p:cNvSpPr/>
          <p:nvPr/>
        </p:nvSpPr>
        <p:spPr>
          <a:xfrm>
            <a:off x="4870333" y="4967509"/>
            <a:ext cx="4286354" cy="23910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44450">
            <a:solidFill>
              <a:schemeClr val="accent2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B6549F7-C7BA-9C4F-BB9A-FA42032C75EF}"/>
              </a:ext>
            </a:extLst>
          </p:cNvPr>
          <p:cNvSpPr/>
          <p:nvPr/>
        </p:nvSpPr>
        <p:spPr>
          <a:xfrm>
            <a:off x="5015313" y="5172420"/>
            <a:ext cx="3896874" cy="1868567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210664B-6889-314B-AAC7-A5BAD662090E}"/>
              </a:ext>
            </a:extLst>
          </p:cNvPr>
          <p:cNvSpPr/>
          <p:nvPr/>
        </p:nvSpPr>
        <p:spPr>
          <a:xfrm>
            <a:off x="6306443" y="5353569"/>
            <a:ext cx="1507579" cy="14180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5098A4E-DA1E-8B48-8813-A766EFCE7D74}"/>
              </a:ext>
            </a:extLst>
          </p:cNvPr>
          <p:cNvSpPr txBox="1"/>
          <p:nvPr/>
        </p:nvSpPr>
        <p:spPr>
          <a:xfrm>
            <a:off x="6775063" y="6433197"/>
            <a:ext cx="6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파드(Pod)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5295B44-C6E8-E144-8424-F81617108F73}"/>
              </a:ext>
            </a:extLst>
          </p:cNvPr>
          <p:cNvSpPr txBox="1"/>
          <p:nvPr/>
        </p:nvSpPr>
        <p:spPr>
          <a:xfrm>
            <a:off x="6375679" y="6755347"/>
            <a:ext cx="1239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레플리카셋(ReplicaSet)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0FDFFDF-93C8-FB40-9496-C5D3AB858673}"/>
              </a:ext>
            </a:extLst>
          </p:cNvPr>
          <p:cNvSpPr txBox="1"/>
          <p:nvPr/>
        </p:nvSpPr>
        <p:spPr>
          <a:xfrm>
            <a:off x="5660793" y="7000560"/>
            <a:ext cx="3084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디플로이먼트(Deployment) (app=Backend)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324D1B4-F075-0849-B8E6-9D492D292D07}"/>
              </a:ext>
            </a:extLst>
          </p:cNvPr>
          <p:cNvSpPr/>
          <p:nvPr/>
        </p:nvSpPr>
        <p:spPr>
          <a:xfrm>
            <a:off x="4848530" y="4298116"/>
            <a:ext cx="4308155" cy="42075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백엔드 앱 - ClusterIP 서비스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D4F289E-7B3A-6D40-A06D-F64475ACDF27}"/>
              </a:ext>
            </a:extLst>
          </p:cNvPr>
          <p:cNvGrpSpPr/>
          <p:nvPr/>
        </p:nvGrpSpPr>
        <p:grpSpPr>
          <a:xfrm>
            <a:off x="6547390" y="5538347"/>
            <a:ext cx="1006998" cy="827590"/>
            <a:chOff x="2217322" y="4152694"/>
            <a:chExt cx="1006998" cy="827590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D0F1BB3-1A0C-3144-B2FF-EB559DE5CB0A}"/>
                </a:ext>
              </a:extLst>
            </p:cNvPr>
            <p:cNvSpPr/>
            <p:nvPr/>
          </p:nvSpPr>
          <p:spPr>
            <a:xfrm>
              <a:off x="2217322" y="4152694"/>
              <a:ext cx="1006998" cy="8275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E9945A0-F8BF-F941-810C-8566DA497F08}"/>
                </a:ext>
              </a:extLst>
            </p:cNvPr>
            <p:cNvCxnSpPr>
              <a:cxnSpLocks/>
            </p:cNvCxnSpPr>
            <p:nvPr/>
          </p:nvCxnSpPr>
          <p:spPr>
            <a:xfrm>
              <a:off x="2414092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3357B06-97CE-3946-A07D-D37A103E68A5}"/>
                </a:ext>
              </a:extLst>
            </p:cNvPr>
            <p:cNvCxnSpPr>
              <a:cxnSpLocks/>
            </p:cNvCxnSpPr>
            <p:nvPr/>
          </p:nvCxnSpPr>
          <p:spPr>
            <a:xfrm>
              <a:off x="25684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9AAE7EDF-AFCD-D244-9CF7-D2CEA85E254C}"/>
                </a:ext>
              </a:extLst>
            </p:cNvPr>
            <p:cNvCxnSpPr>
              <a:cxnSpLocks/>
            </p:cNvCxnSpPr>
            <p:nvPr/>
          </p:nvCxnSpPr>
          <p:spPr>
            <a:xfrm>
              <a:off x="27208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B074BDB0-D89A-F74E-B81A-F0E967B04C46}"/>
                </a:ext>
              </a:extLst>
            </p:cNvPr>
            <p:cNvCxnSpPr>
              <a:cxnSpLocks/>
            </p:cNvCxnSpPr>
            <p:nvPr/>
          </p:nvCxnSpPr>
          <p:spPr>
            <a:xfrm>
              <a:off x="28732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8E940FF-674C-324B-92C1-6FF045AFD22C}"/>
                </a:ext>
              </a:extLst>
            </p:cNvPr>
            <p:cNvCxnSpPr>
              <a:cxnSpLocks/>
            </p:cNvCxnSpPr>
            <p:nvPr/>
          </p:nvCxnSpPr>
          <p:spPr>
            <a:xfrm>
              <a:off x="3025621" y="4262654"/>
              <a:ext cx="0" cy="613458"/>
            </a:xfrm>
            <a:prstGeom prst="line">
              <a:avLst/>
            </a:prstGeom>
            <a:ln w="603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95376C4-E8E6-E74D-8FFF-115B4570C245}"/>
                </a:ext>
              </a:extLst>
            </p:cNvPr>
            <p:cNvSpPr txBox="1"/>
            <p:nvPr/>
          </p:nvSpPr>
          <p:spPr>
            <a:xfrm>
              <a:off x="2552989" y="4366434"/>
              <a:ext cx="347240" cy="40011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B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E3A8ED8-3B11-3E4C-BAE3-4058495ACE9F}"/>
              </a:ext>
            </a:extLst>
          </p:cNvPr>
          <p:cNvGrpSpPr/>
          <p:nvPr/>
        </p:nvGrpSpPr>
        <p:grpSpPr>
          <a:xfrm>
            <a:off x="380904" y="932531"/>
            <a:ext cx="2061290" cy="644442"/>
            <a:chOff x="7124887" y="2666089"/>
            <a:chExt cx="2061290" cy="644442"/>
          </a:xfrm>
        </p:grpSpPr>
        <p:pic>
          <p:nvPicPr>
            <p:cNvPr id="175" name="Picture 2" descr="User icon">
              <a:extLst>
                <a:ext uri="{FF2B5EF4-FFF2-40B4-BE49-F238E27FC236}">
                  <a16:creationId xmlns:a16="http://schemas.microsoft.com/office/drawing/2014/main" id="{B1ABD17D-E7D4-A74D-A33E-F22D171460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4887" y="2717341"/>
              <a:ext cx="501334" cy="501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0EF17FB-E209-754F-957C-E64483CB4CB1}"/>
                </a:ext>
              </a:extLst>
            </p:cNvPr>
            <p:cNvSpPr/>
            <p:nvPr/>
          </p:nvSpPr>
          <p:spPr>
            <a:xfrm>
              <a:off x="7124888" y="2666089"/>
              <a:ext cx="2061289" cy="64444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78" name="Picture 2" descr="User icon">
              <a:extLst>
                <a:ext uri="{FF2B5EF4-FFF2-40B4-BE49-F238E27FC236}">
                  <a16:creationId xmlns:a16="http://schemas.microsoft.com/office/drawing/2014/main" id="{7EACD299-21AB-A24E-AFC4-917D77DC01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6221" y="2731231"/>
              <a:ext cx="501334" cy="501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0" name="Picture 2" descr="User icon">
              <a:extLst>
                <a:ext uri="{FF2B5EF4-FFF2-40B4-BE49-F238E27FC236}">
                  <a16:creationId xmlns:a16="http://schemas.microsoft.com/office/drawing/2014/main" id="{EC0D1071-D2BD-F045-99CB-94F53572CA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9651" y="2718254"/>
              <a:ext cx="501334" cy="501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2" name="Picture 2" descr="User icon">
              <a:extLst>
                <a:ext uri="{FF2B5EF4-FFF2-40B4-BE49-F238E27FC236}">
                  <a16:creationId xmlns:a16="http://schemas.microsoft.com/office/drawing/2014/main" id="{D18B369E-B387-F948-804A-026E14C056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0985" y="2731231"/>
              <a:ext cx="501334" cy="501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BEF79D6-A049-CB4D-A7A3-9E0FD1F23425}"/>
              </a:ext>
            </a:extLst>
          </p:cNvPr>
          <p:cNvSpPr txBox="1"/>
          <p:nvPr/>
        </p:nvSpPr>
        <p:spPr>
          <a:xfrm>
            <a:off x="6926066" y="346430"/>
            <a:ext cx="24010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쿠버네티스 클러스터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F9C11B-4DF5-1C42-9052-9D4B1A2CF113}"/>
              </a:ext>
            </a:extLst>
          </p:cNvPr>
          <p:cNvCxnSpPr>
            <a:cxnSpLocks/>
            <a:stCxn id="182" idx="3"/>
            <a:endCxn id="111" idx="1"/>
          </p:cNvCxnSpPr>
          <p:nvPr/>
        </p:nvCxnSpPr>
        <p:spPr>
          <a:xfrm>
            <a:off x="2418336" y="1248340"/>
            <a:ext cx="2412939" cy="6413"/>
          </a:xfrm>
          <a:prstGeom prst="straightConnector1">
            <a:avLst/>
          </a:prstGeom>
          <a:ln w="3175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C66099B-89CC-194D-B955-F7C8BB9CD367}"/>
              </a:ext>
            </a:extLst>
          </p:cNvPr>
          <p:cNvCxnSpPr>
            <a:cxnSpLocks/>
            <a:stCxn id="111" idx="2"/>
            <a:endCxn id="77" idx="0"/>
          </p:cNvCxnSpPr>
          <p:nvPr/>
        </p:nvCxnSpPr>
        <p:spPr>
          <a:xfrm flipH="1">
            <a:off x="6993957" y="1465131"/>
            <a:ext cx="24" cy="248636"/>
          </a:xfrm>
          <a:prstGeom prst="straightConnector1">
            <a:avLst/>
          </a:prstGeom>
          <a:ln w="317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92390946-6875-7745-8D86-6FF7187844AF}"/>
              </a:ext>
            </a:extLst>
          </p:cNvPr>
          <p:cNvCxnSpPr/>
          <p:nvPr/>
        </p:nvCxnSpPr>
        <p:spPr>
          <a:xfrm flipH="1">
            <a:off x="6984180" y="4061141"/>
            <a:ext cx="9777" cy="248636"/>
          </a:xfrm>
          <a:prstGeom prst="straightConnector1">
            <a:avLst/>
          </a:prstGeom>
          <a:ln w="317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A15D92BB-44A8-0441-B90A-BAE71C53FCC5}"/>
              </a:ext>
            </a:extLst>
          </p:cNvPr>
          <p:cNvCxnSpPr/>
          <p:nvPr/>
        </p:nvCxnSpPr>
        <p:spPr>
          <a:xfrm flipH="1">
            <a:off x="6968940" y="4693461"/>
            <a:ext cx="9777" cy="248636"/>
          </a:xfrm>
          <a:prstGeom prst="straightConnector1">
            <a:avLst/>
          </a:prstGeom>
          <a:ln w="317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808C65B-A7D6-C943-A476-8DCB85854F5C}"/>
              </a:ext>
            </a:extLst>
          </p:cNvPr>
          <p:cNvSpPr txBox="1"/>
          <p:nvPr/>
        </p:nvSpPr>
        <p:spPr>
          <a:xfrm>
            <a:off x="895003" y="1506614"/>
            <a:ext cx="765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사용자</a:t>
            </a:r>
          </a:p>
        </p:txBody>
      </p:sp>
      <p:sp>
        <p:nvSpPr>
          <p:cNvPr id="129" name="Title 3">
            <a:extLst>
              <a:ext uri="{FF2B5EF4-FFF2-40B4-BE49-F238E27FC236}">
                <a16:creationId xmlns:a16="http://schemas.microsoft.com/office/drawing/2014/main" id="{B2DCD4D7-7CB9-214F-B60B-34B5DD81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2465" y="129203"/>
            <a:ext cx="4041433" cy="794985"/>
          </a:xfrm>
        </p:spPr>
        <p:txBody>
          <a:bodyPr>
            <a:normAutofit fontScale="90000"/>
          </a:bodyPr>
          <a:lstStyle/>
          <a:p>
            <a:r>
              <a:t>서비스s Demo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3DD047-E604-2940-9943-D066FFE43BBA}"/>
              </a:ext>
            </a:extLst>
          </p:cNvPr>
          <p:cNvSpPr txBox="1"/>
          <p:nvPr/>
        </p:nvSpPr>
        <p:spPr>
          <a:xfrm>
            <a:off x="0" y="1830001"/>
            <a:ext cx="4298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http://&lt;</a:t>
            </a:r>
            <a:r>
              <a:rPr lang="en-US" sz="1600" dirty="0" err="1"/>
              <a:t>workernode</a:t>
            </a:r>
            <a:r>
              <a:rPr lang="en-US" sz="1600" dirty="0"/>
              <a:t>-public-</a:t>
            </a:r>
            <a:r>
              <a:rPr lang="en-US" sz="1600" dirty="0" err="1"/>
              <a:t>ip</a:t>
            </a:r>
            <a:r>
              <a:rPr lang="en-US" sz="1600" dirty="0"/>
              <a:t>&gt;:&lt;</a:t>
            </a:r>
            <a:r>
              <a:rPr lang="en-US" sz="1600" dirty="0" err="1"/>
              <a:t>NodePort</a:t>
            </a:r>
            <a:r>
              <a:rPr lang="en-US" sz="1600" dirty="0"/>
              <a:t>&gt;/hello</a:t>
            </a:r>
          </a:p>
        </p:txBody>
      </p:sp>
    </p:spTree>
    <p:extLst>
      <p:ext uri="{BB962C8B-B14F-4D97-AF65-F5344CB8AC3E}">
        <p14:creationId xmlns:p14="http://schemas.microsoft.com/office/powerpoint/2010/main" val="318518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7" grpId="0" animBg="1"/>
      <p:bldP spid="78" grpId="0" animBg="1"/>
      <p:bldP spid="96" grpId="0" animBg="1"/>
      <p:bldP spid="97" grpId="0"/>
      <p:bldP spid="109" grpId="0"/>
      <p:bldP spid="110" grpId="0"/>
      <p:bldP spid="111" grpId="0" animBg="1"/>
      <p:bldP spid="112" grpId="0" animBg="1"/>
      <p:bldP spid="113" grpId="0" animBg="1"/>
      <p:bldP spid="116" grpId="0" animBg="1"/>
      <p:bldP spid="117" grpId="0"/>
      <p:bldP spid="118" grpId="0"/>
      <p:bldP spid="119" grpId="0"/>
      <p:bldP spid="120" grpId="0" animBg="1"/>
      <p:bldP spid="33" grpId="0"/>
      <p:bldP spid="14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79A16920-295F-4532-8573-E88C8EF8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57" y="1756402"/>
            <a:ext cx="4858736" cy="47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3" y="2899123"/>
            <a:ext cx="8390701" cy="1089553"/>
          </a:xfrm>
        </p:spPr>
        <p:txBody>
          <a:bodyPr>
            <a:noAutofit/>
          </a:bodyPr>
          <a:lstStyle/>
          <a:p>
            <a:r>
              <a:t>쿠버네티스</a:t>
            </a:r>
          </a:p>
          <a:p>
            <a:r>
              <a:t>YAML 기초</a:t>
            </a:r>
          </a:p>
        </p:txBody>
      </p:sp>
    </p:spTree>
    <p:extLst>
      <p:ext uri="{BB962C8B-B14F-4D97-AF65-F5344CB8AC3E}">
        <p14:creationId xmlns:p14="http://schemas.microsoft.com/office/powerpoint/2010/main" val="655559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F20B13-8EAF-6440-8914-27FD415D16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D51CD-9F3D-7B42-A5CB-2264BA106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YAML은 마크업 언어가 아닙니다.</a:t>
            </a:r>
          </a:p>
          <a:p>
            <a:r>
              <a:t>YAML은 다양한 것에 대한 정보를 저장하는 데 사용합니다.</a:t>
            </a:r>
          </a:p>
          <a:p>
            <a:r>
              <a:t>YAML로 변수처럼 Key-Value(키-값) 쌍, 리스트, 오브젝트를 정의할 수 있습니다.</a:t>
            </a:r>
          </a:p>
          <a:p>
            <a:r>
              <a:t>YAML은 JSON(JavaScript Object Notation)과 매우 유사합니다.</a:t>
            </a:r>
          </a:p>
          <a:p>
            <a:r>
              <a:t>YAML은 가독성과 사용자 친화성에 초점을 둡니다.</a:t>
            </a:r>
          </a:p>
          <a:p>
            <a:r>
              <a:t>YAML은 깔끔하고 읽기 쉽게 설계되었습니다.</a:t>
            </a:r>
          </a:p>
          <a:p>
            <a:r>
              <a:t>YAML 파일 확장자는 두 가지를 사용할 수 있습니다: abc.yml, abc.yaml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96E99A-7D02-7745-B595-8E887D94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YAML 기초</a:t>
            </a:r>
          </a:p>
        </p:txBody>
      </p:sp>
    </p:spTree>
    <p:extLst>
      <p:ext uri="{BB962C8B-B14F-4D97-AF65-F5344CB8AC3E}">
        <p14:creationId xmlns:p14="http://schemas.microsoft.com/office/powerpoint/2010/main" val="222456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64E5C8-EE20-554A-AB87-8475B83C3E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D072D-354E-0A44-844E-CDD758835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YAML 주석</a:t>
            </a:r>
          </a:p>
          <a:p>
            <a:r>
              <a:t>YAML 키-값 쌍</a:t>
            </a:r>
          </a:p>
          <a:p>
            <a:r>
              <a:t>YAML 딕셔너리(맵)</a:t>
            </a:r>
          </a:p>
          <a:p>
            <a:r>
              <a:t>YAML 배열/리스트</a:t>
            </a:r>
          </a:p>
          <a:p>
            <a:r>
              <a:t>YAML 공백(들여쓰기)</a:t>
            </a:r>
          </a:p>
          <a:p>
            <a:r>
              <a:t>YAML 문서 구분자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31DAA2-9028-9C40-8C05-CEBA5828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YAML 기초</a:t>
            </a:r>
          </a:p>
        </p:txBody>
      </p:sp>
    </p:spTree>
    <p:extLst>
      <p:ext uri="{BB962C8B-B14F-4D97-AF65-F5344CB8AC3E}">
        <p14:creationId xmlns:p14="http://schemas.microsoft.com/office/powerpoint/2010/main" val="171078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18E80D-6715-EE4E-9FE7-BE69ABA0FF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503EE7-9209-B64E-95BB-71BDA4EB7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3151089"/>
            <a:ext cx="12618720" cy="1188851"/>
          </a:xfrm>
        </p:spPr>
        <p:txBody>
          <a:bodyPr/>
          <a:lstStyle/>
          <a:p>
            <a: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525968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0FBA762A8B4A4AB2389BE0BCE3C83F" ma:contentTypeVersion="10" ma:contentTypeDescription="Create a new document." ma:contentTypeScope="" ma:versionID="0f3e2685ea47f4ebc3624ed417f13537">
  <xsd:schema xmlns:xsd="http://www.w3.org/2001/XMLSchema" xmlns:xs="http://www.w3.org/2001/XMLSchema" xmlns:p="http://schemas.microsoft.com/office/2006/metadata/properties" xmlns:ns2="9a51ea1a-1b1e-41ef-b441-1ee4f2fd8669" xmlns:ns3="1715a332-6e4d-4cad-94c4-6bada4eb9966" targetNamespace="http://schemas.microsoft.com/office/2006/metadata/properties" ma:root="true" ma:fieldsID="c0969c2d596e33b812740b722f5f53ca" ns2:_="" ns3:_="">
    <xsd:import namespace="9a51ea1a-1b1e-41ef-b441-1ee4f2fd8669"/>
    <xsd:import namespace="1715a332-6e4d-4cad-94c4-6bada4eb99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1ea1a-1b1e-41ef-b441-1ee4f2fd866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15a332-6e4d-4cad-94c4-6bada4eb99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EC2339-1C1C-416D-9A21-94E8CFA5CBF4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9a51ea1a-1b1e-41ef-b441-1ee4f2fd8669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1715a332-6e4d-4cad-94c4-6bada4eb996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F2D375-1062-4EE6-861C-05377A63E4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179B27-CBA1-4175-8B64-42FE0F853D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51ea1a-1b1e-41ef-b441-1ee4f2fd8669"/>
    <ds:schemaRef ds:uri="1715a332-6e4d-4cad-94c4-6bada4eb99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178630</TotalTime>
  <Words>1876</Words>
  <Application>Microsoft Office PowerPoint</Application>
  <PresentationFormat>사용자 지정</PresentationFormat>
  <Paragraphs>420</Paragraphs>
  <Slides>37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2" baseType="lpstr">
      <vt:lpstr>Algerian</vt:lpstr>
      <vt:lpstr>Arial</vt:lpstr>
      <vt:lpstr>Calibri</vt:lpstr>
      <vt:lpstr>Calibri Light</vt:lpstr>
      <vt:lpstr>Office Theme</vt:lpstr>
      <vt:lpstr>PowerPoint 프레젠테이션</vt:lpstr>
      <vt:lpstr>Kubernetes - Architecture</vt:lpstr>
      <vt:lpstr>Kubernetes Architecture - Master</vt:lpstr>
      <vt:lpstr>Kubernetes Architecture - Master</vt:lpstr>
      <vt:lpstr>Kubernetes Architecture - Master</vt:lpstr>
      <vt:lpstr>Kubernetes Architecture – Worker Nodes</vt:lpstr>
      <vt:lpstr>PowerPoint 프레젠테이션</vt:lpstr>
      <vt:lpstr>Kubernetes - Fundamentals</vt:lpstr>
      <vt:lpstr>Kubernetes - Imperative &amp; Declarative</vt:lpstr>
      <vt:lpstr>PowerPoint 프레젠테이션</vt:lpstr>
      <vt:lpstr>Kubernetes - POD</vt:lpstr>
      <vt:lpstr>Kubernetes - POD</vt:lpstr>
      <vt:lpstr>Kubernetes – PODs</vt:lpstr>
      <vt:lpstr>Kubernetes – Multi-Container Pods</vt:lpstr>
      <vt:lpstr>PowerPoint 프레젠테이션</vt:lpstr>
      <vt:lpstr>PowerPoint 프레젠테이션</vt:lpstr>
      <vt:lpstr>Kubernetes – Service - NodePort</vt:lpstr>
      <vt:lpstr>PowerPoint 프레젠테이션</vt:lpstr>
      <vt:lpstr>PowerPoint 프레젠테이션</vt:lpstr>
      <vt:lpstr>Kubernetes - ReplicaSets</vt:lpstr>
      <vt:lpstr>Kubernetes – ReplicaSet</vt:lpstr>
      <vt:lpstr>Kubernetes – ReplicaSet</vt:lpstr>
      <vt:lpstr>Kubernetes – ReplicaSet</vt:lpstr>
      <vt:lpstr>PowerPoint 프레젠테이션</vt:lpstr>
      <vt:lpstr>PowerPoint 프레젠테이션</vt:lpstr>
      <vt:lpstr>Kubernetes – Deployments</vt:lpstr>
      <vt:lpstr>Kubernetes - Deployment</vt:lpstr>
      <vt:lpstr>PowerPoint 프레젠테이션</vt:lpstr>
      <vt:lpstr>PowerPoint 프레젠테이션</vt:lpstr>
      <vt:lpstr>Kubernetes - Services</vt:lpstr>
      <vt:lpstr> Services</vt:lpstr>
      <vt:lpstr>PowerPoint 프레젠테이션</vt:lpstr>
      <vt:lpstr> Services Demo</vt:lpstr>
      <vt:lpstr>PowerPoint 프레젠테이션</vt:lpstr>
      <vt:lpstr>YAML Basics</vt:lpstr>
      <vt:lpstr>YAML Basics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Elastic Beanstalk</dc:title>
  <dc:creator>Stack Simplify</dc:creator>
  <cp:lastModifiedBy>Doyoung Kim</cp:lastModifiedBy>
  <cp:revision>850</cp:revision>
  <dcterms:created xsi:type="dcterms:W3CDTF">2019-11-12T03:20:49Z</dcterms:created>
  <dcterms:modified xsi:type="dcterms:W3CDTF">2026-01-11T07:38:12Z</dcterms:modified>
</cp:coreProperties>
</file>